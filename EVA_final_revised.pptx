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4"/>
    <p:sldId id="264" r:id="rId13"/>
    <p:sldId id="265" r:id="rId15"/>
  </p:sldIdLst>
  <p:sldSz cy="6858000" cx="12192000"/>
  <p:notesSz cx="6858000" cy="12192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NrsEMjsqc39asV3SSJAAWqC/b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712f1194d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d712f1194d_2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3d712f1194d_2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Derek </a:t>
            </a:r>
            <a:endParaRPr/>
          </a:p>
        </p:txBody>
      </p:sp>
      <p:sp>
        <p:nvSpPr>
          <p:cNvPr id="161" name="Google Shape;16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76ff9710b_2_4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976ff9710b_2_4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Derek </a:t>
            </a:r>
            <a:endParaRPr/>
          </a:p>
        </p:txBody>
      </p:sp>
      <p:sp>
        <p:nvSpPr>
          <p:cNvPr id="199" name="Google Shape;199;g3976ff9710b_2_4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712f1194d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d712f1194d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3d712f1194d_2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712f1194d_2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d712f1194d_2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600"/>
              </a:spcAft>
              <a:buSzPts val="1400"/>
              <a:buNone/>
            </a:pPr>
            <a:r>
              <a:rPr b="1" lang="en-US"/>
              <a:t>Demo script (target: 3 minutes):</a:t>
            </a:r>
            <a:endParaRPr/>
          </a:p>
          <a:p>
            <a:pPr indent="0" lvl="0" marL="0" rtl="0" algn="l">
              <a:lnSpc>
                <a:spcPct val="100000"/>
              </a:lnSpc>
              <a:spcBef>
                <a:spcPts val="0"/>
              </a:spcBef>
              <a:spcAft>
                <a:spcPts val="300"/>
              </a:spcAft>
              <a:buNone/>
            </a:pPr>
            <a:r>
              <a:rPr lang="en-US"/>
              <a:t>1. Land on the Home page. Call out the hero message and premium visual tone vs. the old site (which was a flat single page with no CTA).</a:t>
            </a:r>
          </a:p>
          <a:p>
            <a:pPr indent="0" lvl="0" marL="0" rtl="0" algn="l">
              <a:lnSpc>
                <a:spcPct val="100000"/>
              </a:lnSpc>
              <a:spcBef>
                <a:spcPts val="0"/>
              </a:spcBef>
              <a:spcAft>
                <a:spcPts val="300"/>
              </a:spcAft>
              <a:buNone/>
            </a:pPr>
            <a:r>
              <a:rPr lang="en-US"/>
              <a:t>2. Scroll to Services: narrate how the structured layout makes EVA’s coaching offerings easy to scan.</a:t>
            </a:r>
          </a:p>
          <a:p>
            <a:pPr indent="0" lvl="0" marL="0" rtl="0" algn="l">
              <a:lnSpc>
                <a:spcPct val="100000"/>
              </a:lnSpc>
              <a:spcBef>
                <a:spcPts val="0"/>
              </a:spcBef>
              <a:spcAft>
                <a:spcPts val="300"/>
              </a:spcAft>
              <a:buNone/>
            </a:pPr>
            <a:r>
              <a:rPr lang="en-US"/>
              <a:t>3. Open Testimonials: highlight trust-building. Then jump to Blog to show the content surface for SEO.</a:t>
            </a:r>
          </a:p>
          <a:p>
            <a:pPr indent="0" lvl="0" marL="0" rtl="0" algn="l">
              <a:lnSpc>
                <a:spcPct val="100000"/>
              </a:lnSpc>
              <a:spcBef>
                <a:spcPts val="0"/>
              </a:spcBef>
              <a:spcAft>
                <a:spcPts val="300"/>
              </a:spcAft>
              <a:buNone/>
            </a:pPr>
            <a:r>
              <a:rPr lang="en-US"/>
              <a:t>4. Click through to Contact in two clicks from any page. Emphasize the clear pathway to inquiry, something the old site lacked.</a:t>
            </a:r>
          </a:p>
          <a:p>
            <a:pPr indent="0" lvl="0" marL="0" rtl="0" algn="l">
              <a:lnSpc>
                <a:spcPct val="100000"/>
              </a:lnSpc>
              <a:spcBef>
                <a:spcPts val="0"/>
              </a:spcBef>
              <a:spcAft>
                <a:spcPts val="300"/>
              </a:spcAft>
              <a:buNone/>
            </a:pPr>
            <a:r>
              <a:rPr lang="en-US"/>
              <a:t>5. Resize the browser (or show on phone) to demonstrate responsive design on mobile.</a:t>
            </a:r>
          </a:p>
          <a:p>
            <a:pPr indent="0" lvl="0" marL="0" rtl="0" algn="l">
              <a:lnSpc>
                <a:spcPct val="100000"/>
              </a:lnSpc>
              <a:spcBef>
                <a:spcPts val="300"/>
              </a:spcBef>
              <a:spcAft>
                <a:spcPts val="0"/>
              </a:spcAft>
              <a:buNone/>
            </a:pPr>
            <a:r>
              <a:rPr b="1" lang="en-US"/>
              <a:t>Before vs. After talking points:</a:t>
            </a:r>
          </a:p>
          <a:p>
            <a:pPr indent="0" lvl="0" marL="0" rtl="0" algn="l">
              <a:lnSpc>
                <a:spcPct val="100000"/>
              </a:lnSpc>
              <a:spcBef>
                <a:spcPts val="0"/>
              </a:spcBef>
              <a:spcAft>
                <a:spcPts val="300"/>
              </a:spcAft>
              <a:buNone/>
            </a:pPr>
            <a:r>
              <a:rPr lang="en-US"/>
              <a:t>Navigation: flat single page → six-section structured site. Mobile: unoptimized layout → fully responsive. CTA: none → clear Contact pathway on every page. Brand: inconsistent → premium and credible.</a:t>
            </a:r>
            <a:endParaRPr/>
          </a:p>
        </p:txBody>
      </p:sp>
      <p:sp>
        <p:nvSpPr>
          <p:cNvPr id="273" name="Google Shape;273;g3d712f1194d_2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76ff9710b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976ff9710b_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Going forward, EVA can treat this project as a scalable foundation rather than a finished endpoint. In the short term, the focus is launching with finalized content, integrations, and analytics. In the mid term, EVA can expand content strategy and lead capture to improve conversion. In the long term, the site can evolve into a broader coaching platform with portal and e-commerce capabilities. Our handoff includes the repository, deployable prototype, and a structure that makes future updates more manageable </a:t>
            </a:r>
            <a:endParaRPr/>
          </a:p>
        </p:txBody>
      </p:sp>
      <p:sp>
        <p:nvSpPr>
          <p:cNvPr id="284" name="Google Shape;284;g3976ff9710b_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76ff9710b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976ff9710b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closing, our team’s goal was not just to redesign a website visually, but to create a stronger digital experience that supports EVA’s business goals. The prototype improves how EVA presents its services, builds trust with prospective clients, and creates a more scalable platform for future growth. Overall, this project positions EVA with a more professional and strategic online presence.”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“EVA now has a stronger digital foundation to support credibility, client engagement, and future scale.”</a:t>
            </a:r>
            <a:endParaRPr/>
          </a:p>
        </p:txBody>
      </p:sp>
      <p:sp>
        <p:nvSpPr>
          <p:cNvPr id="322" name="Google Shape;322;g3976ff9710b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95b2af9fb0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g395b2af9fb0_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g395b2af9fb0_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g3d712f1194d_7_6"/>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9" name="Google Shape;19;g3d712f1194d_7_6"/>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0" name="Google Shape;20;g3d712f1194d_7_6"/>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g3d712f1194d_7_10"/>
          <p:cNvSpPr txBox="1"/>
          <p:nvPr>
            <p:ph type="ctrTitle"/>
          </p:nvPr>
        </p:nvSpPr>
        <p:spPr>
          <a:xfrm>
            <a:off x="457200" y="1420283"/>
            <a:ext cx="5181600" cy="9801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23" name="Google Shape;23;g3d712f1194d_7_10"/>
          <p:cNvSpPr txBox="1"/>
          <p:nvPr>
            <p:ph idx="1" type="subTitle"/>
          </p:nvPr>
        </p:nvSpPr>
        <p:spPr>
          <a:xfrm>
            <a:off x="914400" y="2590800"/>
            <a:ext cx="4267200" cy="1168500"/>
          </a:xfrm>
          <a:prstGeom prst="rect">
            <a:avLst/>
          </a:prstGeom>
          <a:noFill/>
          <a:ln>
            <a:noFill/>
          </a:ln>
        </p:spPr>
        <p:txBody>
          <a:bodyPr anchorCtr="0" anchor="t" bIns="30475" lIns="60950" spcFirstLastPara="1" rIns="60950" wrap="square" tIns="30475">
            <a:normAutofit/>
          </a:bodyPr>
          <a:lstStyle>
            <a:lvl1pPr lvl="0" algn="ctr">
              <a:spcBef>
                <a:spcPts val="400"/>
              </a:spcBef>
              <a:spcAft>
                <a:spcPts val="0"/>
              </a:spcAft>
              <a:buClr>
                <a:srgbClr val="888888"/>
              </a:buClr>
              <a:buSzPts val="2100"/>
              <a:buNone/>
              <a:defRPr>
                <a:solidFill>
                  <a:srgbClr val="888888"/>
                </a:solidFill>
              </a:defRPr>
            </a:lvl1pPr>
            <a:lvl2pPr lvl="1" algn="ctr">
              <a:spcBef>
                <a:spcPts val="400"/>
              </a:spcBef>
              <a:spcAft>
                <a:spcPts val="0"/>
              </a:spcAft>
              <a:buClr>
                <a:srgbClr val="888888"/>
              </a:buClr>
              <a:buSzPts val="1900"/>
              <a:buNone/>
              <a:defRPr>
                <a:solidFill>
                  <a:srgbClr val="888888"/>
                </a:solidFill>
              </a:defRPr>
            </a:lvl2pPr>
            <a:lvl3pPr lvl="2" algn="ctr">
              <a:spcBef>
                <a:spcPts val="300"/>
              </a:spcBef>
              <a:spcAft>
                <a:spcPts val="0"/>
              </a:spcAft>
              <a:buClr>
                <a:srgbClr val="888888"/>
              </a:buClr>
              <a:buSzPts val="1600"/>
              <a:buNone/>
              <a:defRPr>
                <a:solidFill>
                  <a:srgbClr val="888888"/>
                </a:solidFill>
              </a:defRPr>
            </a:lvl3pPr>
            <a:lvl4pPr lvl="3" algn="ctr">
              <a:spcBef>
                <a:spcPts val="300"/>
              </a:spcBef>
              <a:spcAft>
                <a:spcPts val="0"/>
              </a:spcAft>
              <a:buClr>
                <a:srgbClr val="888888"/>
              </a:buClr>
              <a:buSzPts val="1300"/>
              <a:buNone/>
              <a:defRPr>
                <a:solidFill>
                  <a:srgbClr val="888888"/>
                </a:solidFill>
              </a:defRPr>
            </a:lvl4pPr>
            <a:lvl5pPr lvl="4" algn="ctr">
              <a:spcBef>
                <a:spcPts val="300"/>
              </a:spcBef>
              <a:spcAft>
                <a:spcPts val="0"/>
              </a:spcAft>
              <a:buClr>
                <a:srgbClr val="888888"/>
              </a:buClr>
              <a:buSzPts val="1300"/>
              <a:buNone/>
              <a:defRPr>
                <a:solidFill>
                  <a:srgbClr val="888888"/>
                </a:solidFill>
              </a:defRPr>
            </a:lvl5pPr>
            <a:lvl6pPr lvl="5" algn="ctr">
              <a:spcBef>
                <a:spcPts val="300"/>
              </a:spcBef>
              <a:spcAft>
                <a:spcPts val="0"/>
              </a:spcAft>
              <a:buClr>
                <a:srgbClr val="888888"/>
              </a:buClr>
              <a:buSzPts val="1300"/>
              <a:buNone/>
              <a:defRPr>
                <a:solidFill>
                  <a:srgbClr val="888888"/>
                </a:solidFill>
              </a:defRPr>
            </a:lvl6pPr>
            <a:lvl7pPr lvl="6" algn="ctr">
              <a:spcBef>
                <a:spcPts val="300"/>
              </a:spcBef>
              <a:spcAft>
                <a:spcPts val="0"/>
              </a:spcAft>
              <a:buClr>
                <a:srgbClr val="888888"/>
              </a:buClr>
              <a:buSzPts val="1300"/>
              <a:buNone/>
              <a:defRPr>
                <a:solidFill>
                  <a:srgbClr val="888888"/>
                </a:solidFill>
              </a:defRPr>
            </a:lvl7pPr>
            <a:lvl8pPr lvl="7" algn="ctr">
              <a:spcBef>
                <a:spcPts val="300"/>
              </a:spcBef>
              <a:spcAft>
                <a:spcPts val="0"/>
              </a:spcAft>
              <a:buClr>
                <a:srgbClr val="888888"/>
              </a:buClr>
              <a:buSzPts val="1300"/>
              <a:buNone/>
              <a:defRPr>
                <a:solidFill>
                  <a:srgbClr val="888888"/>
                </a:solidFill>
              </a:defRPr>
            </a:lvl8pPr>
            <a:lvl9pPr lvl="8" algn="ctr">
              <a:spcBef>
                <a:spcPts val="300"/>
              </a:spcBef>
              <a:spcAft>
                <a:spcPts val="0"/>
              </a:spcAft>
              <a:buClr>
                <a:srgbClr val="888888"/>
              </a:buClr>
              <a:buSzPts val="1300"/>
              <a:buNone/>
              <a:defRPr>
                <a:solidFill>
                  <a:srgbClr val="888888"/>
                </a:solidFill>
              </a:defRPr>
            </a:lvl9pPr>
          </a:lstStyle>
          <a:p/>
        </p:txBody>
      </p:sp>
      <p:sp>
        <p:nvSpPr>
          <p:cNvPr id="24" name="Google Shape;24;g3d712f1194d_7_10"/>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5" name="Google Shape;25;g3d712f1194d_7_10"/>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26" name="Google Shape;26;g3d712f1194d_7_10"/>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g3d712f1194d_7_16"/>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29" name="Google Shape;29;g3d712f1194d_7_16"/>
          <p:cNvSpPr txBox="1"/>
          <p:nvPr>
            <p:ph idx="1" type="body"/>
          </p:nvPr>
        </p:nvSpPr>
        <p:spPr>
          <a:xfrm>
            <a:off x="304800" y="1066800"/>
            <a:ext cx="5486400" cy="3017400"/>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30" name="Google Shape;30;g3d712f1194d_7_16"/>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1" name="Google Shape;31;g3d712f1194d_7_16"/>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2" name="Google Shape;32;g3d712f1194d_7_16"/>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g3d712f1194d_7_22"/>
          <p:cNvSpPr txBox="1"/>
          <p:nvPr>
            <p:ph type="title"/>
          </p:nvPr>
        </p:nvSpPr>
        <p:spPr>
          <a:xfrm>
            <a:off x="481542" y="2937933"/>
            <a:ext cx="5181600" cy="908100"/>
          </a:xfrm>
          <a:prstGeom prst="rect">
            <a:avLst/>
          </a:prstGeom>
          <a:noFill/>
          <a:ln>
            <a:noFill/>
          </a:ln>
        </p:spPr>
        <p:txBody>
          <a:bodyPr anchorCtr="0" anchor="t" bIns="30475" lIns="60950" spcFirstLastPara="1" rIns="60950" wrap="square" tIns="30475">
            <a:normAutofit/>
          </a:bodyPr>
          <a:lstStyle>
            <a:lvl1pPr lvl="0" algn="l">
              <a:spcBef>
                <a:spcPts val="0"/>
              </a:spcBef>
              <a:spcAft>
                <a:spcPts val="0"/>
              </a:spcAft>
              <a:buClr>
                <a:schemeClr val="dk1"/>
              </a:buClr>
              <a:buSzPts val="2700"/>
              <a:buFont typeface="Calibri"/>
              <a:buNone/>
              <a:defRPr b="1" sz="2700" cap="none"/>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35" name="Google Shape;35;g3d712f1194d_7_22"/>
          <p:cNvSpPr txBox="1"/>
          <p:nvPr>
            <p:ph idx="1" type="body"/>
          </p:nvPr>
        </p:nvSpPr>
        <p:spPr>
          <a:xfrm>
            <a:off x="481542" y="1937809"/>
            <a:ext cx="5181600" cy="1000200"/>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rgbClr val="888888"/>
              </a:buClr>
              <a:buSzPts val="1300"/>
              <a:buNone/>
              <a:defRPr sz="1300">
                <a:solidFill>
                  <a:srgbClr val="888888"/>
                </a:solidFill>
              </a:defRPr>
            </a:lvl1pPr>
            <a:lvl2pPr indent="-228600" lvl="1" marL="914400" algn="l">
              <a:spcBef>
                <a:spcPts val="200"/>
              </a:spcBef>
              <a:spcAft>
                <a:spcPts val="0"/>
              </a:spcAft>
              <a:buClr>
                <a:srgbClr val="888888"/>
              </a:buClr>
              <a:buSzPts val="1200"/>
              <a:buNone/>
              <a:defRPr sz="1200">
                <a:solidFill>
                  <a:srgbClr val="888888"/>
                </a:solidFill>
              </a:defRPr>
            </a:lvl2pPr>
            <a:lvl3pPr indent="-228600" lvl="2" marL="1371600" algn="l">
              <a:spcBef>
                <a:spcPts val="200"/>
              </a:spcBef>
              <a:spcAft>
                <a:spcPts val="0"/>
              </a:spcAft>
              <a:buClr>
                <a:srgbClr val="888888"/>
              </a:buClr>
              <a:buSzPts val="1100"/>
              <a:buNone/>
              <a:defRPr sz="1100">
                <a:solidFill>
                  <a:srgbClr val="888888"/>
                </a:solidFill>
              </a:defRPr>
            </a:lvl3pPr>
            <a:lvl4pPr indent="-228600" lvl="3" marL="1828800" algn="l">
              <a:spcBef>
                <a:spcPts val="200"/>
              </a:spcBef>
              <a:spcAft>
                <a:spcPts val="0"/>
              </a:spcAft>
              <a:buClr>
                <a:srgbClr val="888888"/>
              </a:buClr>
              <a:buSzPts val="900"/>
              <a:buNone/>
              <a:defRPr sz="900">
                <a:solidFill>
                  <a:srgbClr val="888888"/>
                </a:solidFill>
              </a:defRPr>
            </a:lvl4pPr>
            <a:lvl5pPr indent="-228600" lvl="4" marL="2286000" algn="l">
              <a:spcBef>
                <a:spcPts val="200"/>
              </a:spcBef>
              <a:spcAft>
                <a:spcPts val="0"/>
              </a:spcAft>
              <a:buClr>
                <a:srgbClr val="888888"/>
              </a:buClr>
              <a:buSzPts val="900"/>
              <a:buNone/>
              <a:defRPr sz="900">
                <a:solidFill>
                  <a:srgbClr val="888888"/>
                </a:solidFill>
              </a:defRPr>
            </a:lvl5pPr>
            <a:lvl6pPr indent="-228600" lvl="5" marL="2743200" algn="l">
              <a:spcBef>
                <a:spcPts val="200"/>
              </a:spcBef>
              <a:spcAft>
                <a:spcPts val="0"/>
              </a:spcAft>
              <a:buClr>
                <a:srgbClr val="888888"/>
              </a:buClr>
              <a:buSzPts val="900"/>
              <a:buNone/>
              <a:defRPr sz="900">
                <a:solidFill>
                  <a:srgbClr val="888888"/>
                </a:solidFill>
              </a:defRPr>
            </a:lvl6pPr>
            <a:lvl7pPr indent="-228600" lvl="6" marL="3200400" algn="l">
              <a:spcBef>
                <a:spcPts val="200"/>
              </a:spcBef>
              <a:spcAft>
                <a:spcPts val="0"/>
              </a:spcAft>
              <a:buClr>
                <a:srgbClr val="888888"/>
              </a:buClr>
              <a:buSzPts val="900"/>
              <a:buNone/>
              <a:defRPr sz="900">
                <a:solidFill>
                  <a:srgbClr val="888888"/>
                </a:solidFill>
              </a:defRPr>
            </a:lvl7pPr>
            <a:lvl8pPr indent="-228600" lvl="7" marL="3657600" algn="l">
              <a:spcBef>
                <a:spcPts val="200"/>
              </a:spcBef>
              <a:spcAft>
                <a:spcPts val="0"/>
              </a:spcAft>
              <a:buClr>
                <a:srgbClr val="888888"/>
              </a:buClr>
              <a:buSzPts val="900"/>
              <a:buNone/>
              <a:defRPr sz="900">
                <a:solidFill>
                  <a:srgbClr val="888888"/>
                </a:solidFill>
              </a:defRPr>
            </a:lvl8pPr>
            <a:lvl9pPr indent="-228600" lvl="8" marL="4114800" algn="l">
              <a:spcBef>
                <a:spcPts val="200"/>
              </a:spcBef>
              <a:spcAft>
                <a:spcPts val="0"/>
              </a:spcAft>
              <a:buClr>
                <a:srgbClr val="888888"/>
              </a:buClr>
              <a:buSzPts val="900"/>
              <a:buNone/>
              <a:defRPr sz="900">
                <a:solidFill>
                  <a:srgbClr val="888888"/>
                </a:solidFill>
              </a:defRPr>
            </a:lvl9pPr>
          </a:lstStyle>
          <a:p/>
        </p:txBody>
      </p:sp>
      <p:sp>
        <p:nvSpPr>
          <p:cNvPr id="36" name="Google Shape;36;g3d712f1194d_7_22"/>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7" name="Google Shape;37;g3d712f1194d_7_22"/>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38" name="Google Shape;38;g3d712f1194d_7_22"/>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g3d712f1194d_7_28"/>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41" name="Google Shape;41;g3d712f1194d_7_28"/>
          <p:cNvSpPr txBox="1"/>
          <p:nvPr>
            <p:ph idx="1" type="body"/>
          </p:nvPr>
        </p:nvSpPr>
        <p:spPr>
          <a:xfrm>
            <a:off x="304800" y="1066800"/>
            <a:ext cx="2692500" cy="3017400"/>
          </a:xfrm>
          <a:prstGeom prst="rect">
            <a:avLst/>
          </a:prstGeom>
          <a:noFill/>
          <a:ln>
            <a:noFill/>
          </a:ln>
        </p:spPr>
        <p:txBody>
          <a:bodyPr anchorCtr="0" anchor="t" bIns="30475" lIns="60950" spcFirstLastPara="1" rIns="60950" wrap="square" tIns="3047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1150" lvl="2" marL="1371600" algn="l">
              <a:spcBef>
                <a:spcPts val="300"/>
              </a:spcBef>
              <a:spcAft>
                <a:spcPts val="0"/>
              </a:spcAft>
              <a:buClr>
                <a:schemeClr val="dk1"/>
              </a:buClr>
              <a:buSzPts val="1300"/>
              <a:buChar char="•"/>
              <a:defRPr sz="13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2" name="Google Shape;42;g3d712f1194d_7_28"/>
          <p:cNvSpPr txBox="1"/>
          <p:nvPr>
            <p:ph idx="2" type="body"/>
          </p:nvPr>
        </p:nvSpPr>
        <p:spPr>
          <a:xfrm>
            <a:off x="3098800" y="1066800"/>
            <a:ext cx="2692500" cy="3017400"/>
          </a:xfrm>
          <a:prstGeom prst="rect">
            <a:avLst/>
          </a:prstGeom>
          <a:noFill/>
          <a:ln>
            <a:noFill/>
          </a:ln>
        </p:spPr>
        <p:txBody>
          <a:bodyPr anchorCtr="0" anchor="t" bIns="30475" lIns="60950" spcFirstLastPara="1" rIns="60950" wrap="square" tIns="3047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1150" lvl="2" marL="1371600" algn="l">
              <a:spcBef>
                <a:spcPts val="300"/>
              </a:spcBef>
              <a:spcAft>
                <a:spcPts val="0"/>
              </a:spcAft>
              <a:buClr>
                <a:schemeClr val="dk1"/>
              </a:buClr>
              <a:buSzPts val="1300"/>
              <a:buChar char="•"/>
              <a:defRPr sz="13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43" name="Google Shape;43;g3d712f1194d_7_28"/>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44" name="Google Shape;44;g3d712f1194d_7_28"/>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45" name="Google Shape;45;g3d712f1194d_7_28"/>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g3d712f1194d_7_35"/>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2900"/>
              <a:buFont typeface="Calibri"/>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48" name="Google Shape;48;g3d712f1194d_7_35"/>
          <p:cNvSpPr txBox="1"/>
          <p:nvPr>
            <p:ph idx="1" type="body"/>
          </p:nvPr>
        </p:nvSpPr>
        <p:spPr>
          <a:xfrm>
            <a:off x="304800" y="1023409"/>
            <a:ext cx="2693400" cy="426600"/>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49" name="Google Shape;49;g3d712f1194d_7_35"/>
          <p:cNvSpPr txBox="1"/>
          <p:nvPr>
            <p:ph idx="2" type="body"/>
          </p:nvPr>
        </p:nvSpPr>
        <p:spPr>
          <a:xfrm>
            <a:off x="304800" y="1449917"/>
            <a:ext cx="2693400" cy="2634300"/>
          </a:xfrm>
          <a:prstGeom prst="rect">
            <a:avLst/>
          </a:prstGeom>
          <a:noFill/>
          <a:ln>
            <a:noFill/>
          </a:ln>
        </p:spPr>
        <p:txBody>
          <a:bodyPr anchorCtr="0" anchor="t" bIns="30475" lIns="60950" spcFirstLastPara="1" rIns="60950" wrap="square" tIns="30475">
            <a:normAutofit/>
          </a:bodyPr>
          <a:lstStyle>
            <a:lvl1pPr indent="-330200" lvl="0" marL="457200" algn="l">
              <a:spcBef>
                <a:spcPts val="300"/>
              </a:spcBef>
              <a:spcAft>
                <a:spcPts val="0"/>
              </a:spcAft>
              <a:buClr>
                <a:schemeClr val="dk1"/>
              </a:buClr>
              <a:buSzPts val="1600"/>
              <a:buChar char="•"/>
              <a:defRPr sz="1600"/>
            </a:lvl1pPr>
            <a:lvl2pPr indent="-311150" lvl="1" marL="914400" algn="l">
              <a:spcBef>
                <a:spcPts val="300"/>
              </a:spcBef>
              <a:spcAft>
                <a:spcPts val="0"/>
              </a:spcAft>
              <a:buClr>
                <a:schemeClr val="dk1"/>
              </a:buClr>
              <a:buSzPts val="1300"/>
              <a:buChar char="–"/>
              <a:defRPr sz="1300"/>
            </a:lvl2pPr>
            <a:lvl3pPr indent="-304800" lvl="2" marL="1371600" algn="l">
              <a:spcBef>
                <a:spcPts val="200"/>
              </a:spcBef>
              <a:spcAft>
                <a:spcPts val="0"/>
              </a:spcAft>
              <a:buClr>
                <a:schemeClr val="dk1"/>
              </a:buClr>
              <a:buSzPts val="1200"/>
              <a:buChar char="•"/>
              <a:defRPr sz="1200"/>
            </a:lvl3pPr>
            <a:lvl4pPr indent="-298450" lvl="3" marL="1828800" algn="l">
              <a:spcBef>
                <a:spcPts val="200"/>
              </a:spcBef>
              <a:spcAft>
                <a:spcPts val="0"/>
              </a:spcAft>
              <a:buClr>
                <a:schemeClr val="dk1"/>
              </a:buClr>
              <a:buSzPts val="1100"/>
              <a:buChar char="–"/>
              <a:defRPr sz="1100"/>
            </a:lvl4pPr>
            <a:lvl5pPr indent="-298450" lvl="4" marL="2286000" algn="l">
              <a:spcBef>
                <a:spcPts val="200"/>
              </a:spcBef>
              <a:spcAft>
                <a:spcPts val="0"/>
              </a:spcAft>
              <a:buClr>
                <a:schemeClr val="dk1"/>
              </a:buClr>
              <a:buSzPts val="1100"/>
              <a:buChar char="»"/>
              <a:defRPr sz="1100"/>
            </a:lvl5pPr>
            <a:lvl6pPr indent="-298450" lvl="5" marL="2743200" algn="l">
              <a:spcBef>
                <a:spcPts val="200"/>
              </a:spcBef>
              <a:spcAft>
                <a:spcPts val="0"/>
              </a:spcAft>
              <a:buClr>
                <a:schemeClr val="dk1"/>
              </a:buClr>
              <a:buSzPts val="1100"/>
              <a:buChar char="•"/>
              <a:defRPr sz="1100"/>
            </a:lvl6pPr>
            <a:lvl7pPr indent="-298450" lvl="6" marL="3200400" algn="l">
              <a:spcBef>
                <a:spcPts val="200"/>
              </a:spcBef>
              <a:spcAft>
                <a:spcPts val="0"/>
              </a:spcAft>
              <a:buClr>
                <a:schemeClr val="dk1"/>
              </a:buClr>
              <a:buSzPts val="1100"/>
              <a:buChar char="•"/>
              <a:defRPr sz="1100"/>
            </a:lvl7pPr>
            <a:lvl8pPr indent="-298450" lvl="7" marL="3657600" algn="l">
              <a:spcBef>
                <a:spcPts val="200"/>
              </a:spcBef>
              <a:spcAft>
                <a:spcPts val="0"/>
              </a:spcAft>
              <a:buClr>
                <a:schemeClr val="dk1"/>
              </a:buClr>
              <a:buSzPts val="1100"/>
              <a:buChar char="•"/>
              <a:defRPr sz="1100"/>
            </a:lvl8pPr>
            <a:lvl9pPr indent="-298450" lvl="8" marL="4114800" algn="l">
              <a:spcBef>
                <a:spcPts val="200"/>
              </a:spcBef>
              <a:spcAft>
                <a:spcPts val="0"/>
              </a:spcAft>
              <a:buClr>
                <a:schemeClr val="dk1"/>
              </a:buClr>
              <a:buSzPts val="1100"/>
              <a:buChar char="•"/>
              <a:defRPr sz="1100"/>
            </a:lvl9pPr>
          </a:lstStyle>
          <a:p/>
        </p:txBody>
      </p:sp>
      <p:sp>
        <p:nvSpPr>
          <p:cNvPr id="50" name="Google Shape;50;g3d712f1194d_7_35"/>
          <p:cNvSpPr txBox="1"/>
          <p:nvPr>
            <p:ph idx="3" type="body"/>
          </p:nvPr>
        </p:nvSpPr>
        <p:spPr>
          <a:xfrm>
            <a:off x="3096683" y="1023409"/>
            <a:ext cx="2694600" cy="426600"/>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51" name="Google Shape;51;g3d712f1194d_7_35"/>
          <p:cNvSpPr txBox="1"/>
          <p:nvPr>
            <p:ph idx="4" type="body"/>
          </p:nvPr>
        </p:nvSpPr>
        <p:spPr>
          <a:xfrm>
            <a:off x="3096683" y="1449917"/>
            <a:ext cx="2694600" cy="2634300"/>
          </a:xfrm>
          <a:prstGeom prst="rect">
            <a:avLst/>
          </a:prstGeom>
          <a:noFill/>
          <a:ln>
            <a:noFill/>
          </a:ln>
        </p:spPr>
        <p:txBody>
          <a:bodyPr anchorCtr="0" anchor="t" bIns="30475" lIns="60950" spcFirstLastPara="1" rIns="60950" wrap="square" tIns="30475">
            <a:normAutofit/>
          </a:bodyPr>
          <a:lstStyle>
            <a:lvl1pPr indent="-330200" lvl="0" marL="457200" algn="l">
              <a:spcBef>
                <a:spcPts val="300"/>
              </a:spcBef>
              <a:spcAft>
                <a:spcPts val="0"/>
              </a:spcAft>
              <a:buClr>
                <a:schemeClr val="dk1"/>
              </a:buClr>
              <a:buSzPts val="1600"/>
              <a:buChar char="•"/>
              <a:defRPr sz="1600"/>
            </a:lvl1pPr>
            <a:lvl2pPr indent="-311150" lvl="1" marL="914400" algn="l">
              <a:spcBef>
                <a:spcPts val="300"/>
              </a:spcBef>
              <a:spcAft>
                <a:spcPts val="0"/>
              </a:spcAft>
              <a:buClr>
                <a:schemeClr val="dk1"/>
              </a:buClr>
              <a:buSzPts val="1300"/>
              <a:buChar char="–"/>
              <a:defRPr sz="1300"/>
            </a:lvl2pPr>
            <a:lvl3pPr indent="-304800" lvl="2" marL="1371600" algn="l">
              <a:spcBef>
                <a:spcPts val="200"/>
              </a:spcBef>
              <a:spcAft>
                <a:spcPts val="0"/>
              </a:spcAft>
              <a:buClr>
                <a:schemeClr val="dk1"/>
              </a:buClr>
              <a:buSzPts val="1200"/>
              <a:buChar char="•"/>
              <a:defRPr sz="1200"/>
            </a:lvl3pPr>
            <a:lvl4pPr indent="-298450" lvl="3" marL="1828800" algn="l">
              <a:spcBef>
                <a:spcPts val="200"/>
              </a:spcBef>
              <a:spcAft>
                <a:spcPts val="0"/>
              </a:spcAft>
              <a:buClr>
                <a:schemeClr val="dk1"/>
              </a:buClr>
              <a:buSzPts val="1100"/>
              <a:buChar char="–"/>
              <a:defRPr sz="1100"/>
            </a:lvl4pPr>
            <a:lvl5pPr indent="-298450" lvl="4" marL="2286000" algn="l">
              <a:spcBef>
                <a:spcPts val="200"/>
              </a:spcBef>
              <a:spcAft>
                <a:spcPts val="0"/>
              </a:spcAft>
              <a:buClr>
                <a:schemeClr val="dk1"/>
              </a:buClr>
              <a:buSzPts val="1100"/>
              <a:buChar char="»"/>
              <a:defRPr sz="1100"/>
            </a:lvl5pPr>
            <a:lvl6pPr indent="-298450" lvl="5" marL="2743200" algn="l">
              <a:spcBef>
                <a:spcPts val="200"/>
              </a:spcBef>
              <a:spcAft>
                <a:spcPts val="0"/>
              </a:spcAft>
              <a:buClr>
                <a:schemeClr val="dk1"/>
              </a:buClr>
              <a:buSzPts val="1100"/>
              <a:buChar char="•"/>
              <a:defRPr sz="1100"/>
            </a:lvl6pPr>
            <a:lvl7pPr indent="-298450" lvl="6" marL="3200400" algn="l">
              <a:spcBef>
                <a:spcPts val="200"/>
              </a:spcBef>
              <a:spcAft>
                <a:spcPts val="0"/>
              </a:spcAft>
              <a:buClr>
                <a:schemeClr val="dk1"/>
              </a:buClr>
              <a:buSzPts val="1100"/>
              <a:buChar char="•"/>
              <a:defRPr sz="1100"/>
            </a:lvl7pPr>
            <a:lvl8pPr indent="-298450" lvl="7" marL="3657600" algn="l">
              <a:spcBef>
                <a:spcPts val="200"/>
              </a:spcBef>
              <a:spcAft>
                <a:spcPts val="0"/>
              </a:spcAft>
              <a:buClr>
                <a:schemeClr val="dk1"/>
              </a:buClr>
              <a:buSzPts val="1100"/>
              <a:buChar char="•"/>
              <a:defRPr sz="1100"/>
            </a:lvl8pPr>
            <a:lvl9pPr indent="-298450" lvl="8" marL="4114800" algn="l">
              <a:spcBef>
                <a:spcPts val="200"/>
              </a:spcBef>
              <a:spcAft>
                <a:spcPts val="0"/>
              </a:spcAft>
              <a:buClr>
                <a:schemeClr val="dk1"/>
              </a:buClr>
              <a:buSzPts val="1100"/>
              <a:buChar char="•"/>
              <a:defRPr sz="1100"/>
            </a:lvl9pPr>
          </a:lstStyle>
          <a:p/>
        </p:txBody>
      </p:sp>
      <p:sp>
        <p:nvSpPr>
          <p:cNvPr id="52" name="Google Shape;52;g3d712f1194d_7_35"/>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53" name="Google Shape;53;g3d712f1194d_7_35"/>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54" name="Google Shape;54;g3d712f1194d_7_35"/>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g3d712f1194d_7_44"/>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57" name="Google Shape;57;g3d712f1194d_7_44"/>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58" name="Google Shape;58;g3d712f1194d_7_44"/>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59" name="Google Shape;59;g3d712f1194d_7_44"/>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g3d712f1194d_7_49"/>
          <p:cNvSpPr txBox="1"/>
          <p:nvPr>
            <p:ph type="title"/>
          </p:nvPr>
        </p:nvSpPr>
        <p:spPr>
          <a:xfrm>
            <a:off x="304800" y="182033"/>
            <a:ext cx="2005500" cy="774600"/>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62" name="Google Shape;62;g3d712f1194d_7_49"/>
          <p:cNvSpPr txBox="1"/>
          <p:nvPr>
            <p:ph idx="1" type="body"/>
          </p:nvPr>
        </p:nvSpPr>
        <p:spPr>
          <a:xfrm>
            <a:off x="2383367" y="182033"/>
            <a:ext cx="3407700" cy="3902100"/>
          </a:xfrm>
          <a:prstGeom prst="rect">
            <a:avLst/>
          </a:prstGeom>
          <a:noFill/>
          <a:ln>
            <a:noFill/>
          </a:ln>
        </p:spPr>
        <p:txBody>
          <a:bodyPr anchorCtr="0" anchor="t" bIns="30475" lIns="60950" spcFirstLastPara="1" rIns="60950" wrap="square" tIns="30475">
            <a:normAutofit/>
          </a:bodyPr>
          <a:lstStyle>
            <a:lvl1pPr indent="-361950" lvl="0" marL="457200" algn="l">
              <a:spcBef>
                <a:spcPts val="400"/>
              </a:spcBef>
              <a:spcAft>
                <a:spcPts val="0"/>
              </a:spcAft>
              <a:buClr>
                <a:schemeClr val="dk1"/>
              </a:buClr>
              <a:buSzPts val="2100"/>
              <a:buChar char="•"/>
              <a:defRPr sz="2100"/>
            </a:lvl1pPr>
            <a:lvl2pPr indent="-349250" lvl="1" marL="914400" algn="l">
              <a:spcBef>
                <a:spcPts val="400"/>
              </a:spcBef>
              <a:spcAft>
                <a:spcPts val="0"/>
              </a:spcAft>
              <a:buClr>
                <a:schemeClr val="dk1"/>
              </a:buClr>
              <a:buSzPts val="1900"/>
              <a:buChar char="–"/>
              <a:defRPr sz="1900"/>
            </a:lvl2pPr>
            <a:lvl3pPr indent="-330200" lvl="2" marL="1371600" algn="l">
              <a:spcBef>
                <a:spcPts val="300"/>
              </a:spcBef>
              <a:spcAft>
                <a:spcPts val="0"/>
              </a:spcAft>
              <a:buClr>
                <a:schemeClr val="dk1"/>
              </a:buClr>
              <a:buSzPts val="1600"/>
              <a:buChar char="•"/>
              <a:defRPr sz="1600"/>
            </a:lvl3pPr>
            <a:lvl4pPr indent="-311150" lvl="3" marL="1828800" algn="l">
              <a:spcBef>
                <a:spcPts val="300"/>
              </a:spcBef>
              <a:spcAft>
                <a:spcPts val="0"/>
              </a:spcAft>
              <a:buClr>
                <a:schemeClr val="dk1"/>
              </a:buClr>
              <a:buSzPts val="1300"/>
              <a:buChar char="–"/>
              <a:defRPr sz="1300"/>
            </a:lvl4pPr>
            <a:lvl5pPr indent="-311150" lvl="4" marL="2286000" algn="l">
              <a:spcBef>
                <a:spcPts val="300"/>
              </a:spcBef>
              <a:spcAft>
                <a:spcPts val="0"/>
              </a:spcAft>
              <a:buClr>
                <a:schemeClr val="dk1"/>
              </a:buClr>
              <a:buSzPts val="1300"/>
              <a:buChar char="»"/>
              <a:defRPr sz="1300"/>
            </a:lvl5pPr>
            <a:lvl6pPr indent="-311150" lvl="5" marL="2743200" algn="l">
              <a:spcBef>
                <a:spcPts val="300"/>
              </a:spcBef>
              <a:spcAft>
                <a:spcPts val="0"/>
              </a:spcAft>
              <a:buClr>
                <a:schemeClr val="dk1"/>
              </a:buClr>
              <a:buSzPts val="1300"/>
              <a:buChar char="•"/>
              <a:defRPr sz="1300"/>
            </a:lvl6pPr>
            <a:lvl7pPr indent="-311150" lvl="6" marL="3200400" algn="l">
              <a:spcBef>
                <a:spcPts val="300"/>
              </a:spcBef>
              <a:spcAft>
                <a:spcPts val="0"/>
              </a:spcAft>
              <a:buClr>
                <a:schemeClr val="dk1"/>
              </a:buClr>
              <a:buSzPts val="1300"/>
              <a:buChar char="•"/>
              <a:defRPr sz="1300"/>
            </a:lvl7pPr>
            <a:lvl8pPr indent="-311150" lvl="7" marL="3657600" algn="l">
              <a:spcBef>
                <a:spcPts val="300"/>
              </a:spcBef>
              <a:spcAft>
                <a:spcPts val="0"/>
              </a:spcAft>
              <a:buClr>
                <a:schemeClr val="dk1"/>
              </a:buClr>
              <a:buSzPts val="1300"/>
              <a:buChar char="•"/>
              <a:defRPr sz="1300"/>
            </a:lvl8pPr>
            <a:lvl9pPr indent="-311150" lvl="8" marL="4114800" algn="l">
              <a:spcBef>
                <a:spcPts val="300"/>
              </a:spcBef>
              <a:spcAft>
                <a:spcPts val="0"/>
              </a:spcAft>
              <a:buClr>
                <a:schemeClr val="dk1"/>
              </a:buClr>
              <a:buSzPts val="1300"/>
              <a:buChar char="•"/>
              <a:defRPr sz="1300"/>
            </a:lvl9pPr>
          </a:lstStyle>
          <a:p/>
        </p:txBody>
      </p:sp>
      <p:sp>
        <p:nvSpPr>
          <p:cNvPr id="63" name="Google Shape;63;g3d712f1194d_7_49"/>
          <p:cNvSpPr txBox="1"/>
          <p:nvPr>
            <p:ph idx="2" type="body"/>
          </p:nvPr>
        </p:nvSpPr>
        <p:spPr>
          <a:xfrm>
            <a:off x="304800" y="956733"/>
            <a:ext cx="2005500" cy="3127500"/>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64" name="Google Shape;64;g3d712f1194d_7_49"/>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65" name="Google Shape;65;g3d712f1194d_7_49"/>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66" name="Google Shape;66;g3d712f1194d_7_49"/>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g3d712f1194d_7_56"/>
          <p:cNvSpPr txBox="1"/>
          <p:nvPr>
            <p:ph type="title"/>
          </p:nvPr>
        </p:nvSpPr>
        <p:spPr>
          <a:xfrm>
            <a:off x="1194859" y="3200400"/>
            <a:ext cx="3657600" cy="377700"/>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69" name="Google Shape;69;g3d712f1194d_7_56"/>
          <p:cNvSpPr/>
          <p:nvPr>
            <p:ph idx="2" type="pic"/>
          </p:nvPr>
        </p:nvSpPr>
        <p:spPr>
          <a:xfrm>
            <a:off x="1194859" y="408517"/>
            <a:ext cx="3657600" cy="2743200"/>
          </a:xfrm>
          <a:prstGeom prst="rect">
            <a:avLst/>
          </a:prstGeom>
          <a:noFill/>
          <a:ln>
            <a:noFill/>
          </a:ln>
        </p:spPr>
      </p:sp>
      <p:sp>
        <p:nvSpPr>
          <p:cNvPr id="70" name="Google Shape;70;g3d712f1194d_7_56"/>
          <p:cNvSpPr txBox="1"/>
          <p:nvPr>
            <p:ph idx="1" type="body"/>
          </p:nvPr>
        </p:nvSpPr>
        <p:spPr>
          <a:xfrm>
            <a:off x="1194859" y="3578225"/>
            <a:ext cx="3657600" cy="536700"/>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71" name="Google Shape;71;g3d712f1194d_7_56"/>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2" name="Google Shape;72;g3d712f1194d_7_56"/>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3" name="Google Shape;73;g3d712f1194d_7_56"/>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g3d712f1194d_7_63"/>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76" name="Google Shape;76;g3d712f1194d_7_63"/>
          <p:cNvSpPr txBox="1"/>
          <p:nvPr>
            <p:ph idx="1" type="body"/>
          </p:nvPr>
        </p:nvSpPr>
        <p:spPr>
          <a:xfrm rot="5400000">
            <a:off x="1539300" y="-167700"/>
            <a:ext cx="3017400" cy="5486400"/>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77" name="Google Shape;77;g3d712f1194d_7_63"/>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8" name="Google Shape;78;g3d712f1194d_7_63"/>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79" name="Google Shape;79;g3d712f1194d_7_63"/>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g3d712f1194d_7_69"/>
          <p:cNvSpPr txBox="1"/>
          <p:nvPr>
            <p:ph type="title"/>
          </p:nvPr>
        </p:nvSpPr>
        <p:spPr>
          <a:xfrm rot="5400000">
            <a:off x="3154950" y="1447742"/>
            <a:ext cx="3900900" cy="13716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82" name="Google Shape;82;g3d712f1194d_7_69"/>
          <p:cNvSpPr txBox="1"/>
          <p:nvPr>
            <p:ph idx="1" type="body"/>
          </p:nvPr>
        </p:nvSpPr>
        <p:spPr>
          <a:xfrm rot="5400000">
            <a:off x="361000" y="126992"/>
            <a:ext cx="3900900" cy="4013100"/>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83" name="Google Shape;83;g3d712f1194d_7_69"/>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84" name="Google Shape;84;g3d712f1194d_7_69"/>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85" name="Google Shape;85;g3d712f1194d_7_69"/>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6" name="Shape 86"/>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theme" Target="../theme/theme1.xml"/><Relationship Id="rId12" Type="http://schemas.openxmlformats.org/officeDocument/2006/relationships/slideLayout" Target="../slideLayouts/slideLayout13.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
        <p:nvSpPr>
          <p:cNvPr id="12" name="Google Shape;12;g3d712f1194d_7_0"/>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marR="0" algn="ctr">
              <a:spcBef>
                <a:spcPts val="0"/>
              </a:spcBef>
              <a:spcAft>
                <a:spcPts val="0"/>
              </a:spcAft>
              <a:buClr>
                <a:schemeClr val="dk1"/>
              </a:buClr>
              <a:buSzPts val="2900"/>
              <a:buFont typeface="Calibri"/>
              <a:buNone/>
              <a:defRPr b="0" i="0" sz="2900" u="none" cap="none" strike="noStrike">
                <a:solidFill>
                  <a:schemeClr val="dk1"/>
                </a:solidFill>
                <a:latin typeface="Calibri"/>
                <a:ea typeface="Calibri"/>
                <a:cs typeface="Calibri"/>
                <a:sym typeface="Calibri"/>
              </a:defRPr>
            </a:lvl1pPr>
            <a:lvl2pPr lvl="1">
              <a:spcBef>
                <a:spcPts val="0"/>
              </a:spcBef>
              <a:spcAft>
                <a:spcPts val="0"/>
              </a:spcAft>
              <a:buSzPts val="900"/>
              <a:buNone/>
              <a:defRPr sz="1200"/>
            </a:lvl2pPr>
            <a:lvl3pPr lvl="2">
              <a:spcBef>
                <a:spcPts val="0"/>
              </a:spcBef>
              <a:spcAft>
                <a:spcPts val="0"/>
              </a:spcAft>
              <a:buSzPts val="900"/>
              <a:buNone/>
              <a:defRPr sz="1200"/>
            </a:lvl3pPr>
            <a:lvl4pPr lvl="3">
              <a:spcBef>
                <a:spcPts val="0"/>
              </a:spcBef>
              <a:spcAft>
                <a:spcPts val="0"/>
              </a:spcAft>
              <a:buSzPts val="900"/>
              <a:buNone/>
              <a:defRPr sz="1200"/>
            </a:lvl4pPr>
            <a:lvl5pPr lvl="4">
              <a:spcBef>
                <a:spcPts val="0"/>
              </a:spcBef>
              <a:spcAft>
                <a:spcPts val="0"/>
              </a:spcAft>
              <a:buSzPts val="900"/>
              <a:buNone/>
              <a:defRPr sz="1200"/>
            </a:lvl5pPr>
            <a:lvl6pPr lvl="5">
              <a:spcBef>
                <a:spcPts val="0"/>
              </a:spcBef>
              <a:spcAft>
                <a:spcPts val="0"/>
              </a:spcAft>
              <a:buSzPts val="900"/>
              <a:buNone/>
              <a:defRPr sz="1200"/>
            </a:lvl6pPr>
            <a:lvl7pPr lvl="6">
              <a:spcBef>
                <a:spcPts val="0"/>
              </a:spcBef>
              <a:spcAft>
                <a:spcPts val="0"/>
              </a:spcAft>
              <a:buSzPts val="900"/>
              <a:buNone/>
              <a:defRPr sz="1200"/>
            </a:lvl7pPr>
            <a:lvl8pPr lvl="7">
              <a:spcBef>
                <a:spcPts val="0"/>
              </a:spcBef>
              <a:spcAft>
                <a:spcPts val="0"/>
              </a:spcAft>
              <a:buSzPts val="900"/>
              <a:buNone/>
              <a:defRPr sz="1200"/>
            </a:lvl8pPr>
            <a:lvl9pPr lvl="8">
              <a:spcBef>
                <a:spcPts val="0"/>
              </a:spcBef>
              <a:spcAft>
                <a:spcPts val="0"/>
              </a:spcAft>
              <a:buSzPts val="900"/>
              <a:buNone/>
              <a:defRPr sz="1200"/>
            </a:lvl9pPr>
          </a:lstStyle>
          <a:p/>
        </p:txBody>
      </p:sp>
      <p:sp>
        <p:nvSpPr>
          <p:cNvPr id="13" name="Google Shape;13;g3d712f1194d_7_0"/>
          <p:cNvSpPr txBox="1"/>
          <p:nvPr>
            <p:ph idx="1" type="body"/>
          </p:nvPr>
        </p:nvSpPr>
        <p:spPr>
          <a:xfrm>
            <a:off x="304800" y="1066800"/>
            <a:ext cx="5486400" cy="3017400"/>
          </a:xfrm>
          <a:prstGeom prst="rect">
            <a:avLst/>
          </a:prstGeom>
          <a:noFill/>
          <a:ln>
            <a:noFill/>
          </a:ln>
        </p:spPr>
        <p:txBody>
          <a:bodyPr anchorCtr="0" anchor="t" bIns="30475" lIns="60950" spcFirstLastPara="1" rIns="60950" wrap="square" tIns="30475">
            <a:normAutofit/>
          </a:bodyPr>
          <a:lstStyle>
            <a:lvl1pPr indent="-361950" lvl="0" marL="457200" marR="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9250" lvl="1" marL="914400" marR="0" algn="l">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2pPr>
            <a:lvl3pPr indent="-330200" lvl="2" marL="13716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3pPr>
            <a:lvl4pPr indent="-311150" lvl="3" marL="1828800" marR="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14" name="Google Shape;14;g3d712f1194d_7_0"/>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marR="0" algn="l">
              <a:spcBef>
                <a:spcPts val="0"/>
              </a:spcBef>
              <a:spcAft>
                <a:spcPts val="0"/>
              </a:spcAft>
              <a:buSzPts val="900"/>
              <a:buNone/>
              <a:defRPr b="0" i="0" sz="800" u="none" cap="none" strike="noStrike">
                <a:solidFill>
                  <a:srgbClr val="888888"/>
                </a:solidFill>
                <a:latin typeface="Calibri"/>
                <a:ea typeface="Calibri"/>
                <a:cs typeface="Calibri"/>
                <a:sym typeface="Calibri"/>
              </a:defRPr>
            </a:lvl1pPr>
            <a:lvl2pPr lvl="1"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2pPr>
            <a:lvl3pPr lvl="2"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3pPr>
            <a:lvl4pPr lvl="3"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4pPr>
            <a:lvl5pPr lvl="4"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5pPr>
            <a:lvl6pPr lvl="5"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6pPr>
            <a:lvl7pPr lvl="6"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7pPr>
            <a:lvl8pPr lvl="7"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8pPr>
            <a:lvl9pPr lvl="8"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9pPr>
          </a:lstStyle>
          <a:p/>
        </p:txBody>
      </p:sp>
      <p:sp>
        <p:nvSpPr>
          <p:cNvPr id="15" name="Google Shape;15;g3d712f1194d_7_0"/>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marR="0" algn="ctr">
              <a:spcBef>
                <a:spcPts val="0"/>
              </a:spcBef>
              <a:spcAft>
                <a:spcPts val="0"/>
              </a:spcAft>
              <a:buSzPts val="900"/>
              <a:buNone/>
              <a:defRPr b="0" i="0" sz="800" u="none" cap="none" strike="noStrike">
                <a:solidFill>
                  <a:srgbClr val="888888"/>
                </a:solidFill>
                <a:latin typeface="Calibri"/>
                <a:ea typeface="Calibri"/>
                <a:cs typeface="Calibri"/>
                <a:sym typeface="Calibri"/>
              </a:defRPr>
            </a:lvl1pPr>
            <a:lvl2pPr lvl="1"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2pPr>
            <a:lvl3pPr lvl="2"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3pPr>
            <a:lvl4pPr lvl="3"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4pPr>
            <a:lvl5pPr lvl="4"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5pPr>
            <a:lvl6pPr lvl="5"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6pPr>
            <a:lvl7pPr lvl="6"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7pPr>
            <a:lvl8pPr lvl="7"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8pPr>
            <a:lvl9pPr lvl="8" marR="0" algn="l">
              <a:spcBef>
                <a:spcPts val="0"/>
              </a:spcBef>
              <a:spcAft>
                <a:spcPts val="0"/>
              </a:spcAft>
              <a:buSzPts val="900"/>
              <a:buNone/>
              <a:defRPr b="0" i="0" sz="1200" u="none" cap="none" strike="noStrike">
                <a:solidFill>
                  <a:schemeClr val="dk1"/>
                </a:solidFill>
                <a:latin typeface="Calibri"/>
                <a:ea typeface="Calibri"/>
                <a:cs typeface="Calibri"/>
                <a:sym typeface="Calibri"/>
              </a:defRPr>
            </a:lvl9pPr>
          </a:lstStyle>
          <a:p/>
        </p:txBody>
      </p:sp>
      <p:sp>
        <p:nvSpPr>
          <p:cNvPr id="16" name="Google Shape;16;g3d712f1194d_7_0"/>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spcBef>
                <a:spcPts val="0"/>
              </a:spcBef>
              <a:buNone/>
              <a:defRPr b="0" i="0" sz="800" u="none" cap="none" strike="noStrike">
                <a:solidFill>
                  <a:srgbClr val="888888"/>
                </a:solidFill>
                <a:latin typeface="Calibri"/>
                <a:ea typeface="Calibri"/>
                <a:cs typeface="Calibri"/>
                <a:sym typeface="Calibri"/>
              </a:defRPr>
            </a:lvl1pPr>
            <a:lvl2pPr indent="0" lvl="1" marL="0" marR="0" algn="r">
              <a:spcBef>
                <a:spcPts val="0"/>
              </a:spcBef>
              <a:buNone/>
              <a:defRPr b="0" i="0" sz="800" u="none" cap="none" strike="noStrike">
                <a:solidFill>
                  <a:srgbClr val="888888"/>
                </a:solidFill>
                <a:latin typeface="Calibri"/>
                <a:ea typeface="Calibri"/>
                <a:cs typeface="Calibri"/>
                <a:sym typeface="Calibri"/>
              </a:defRPr>
            </a:lvl2pPr>
            <a:lvl3pPr indent="0" lvl="2" marL="0" marR="0" algn="r">
              <a:spcBef>
                <a:spcPts val="0"/>
              </a:spcBef>
              <a:buNone/>
              <a:defRPr b="0" i="0" sz="800" u="none" cap="none" strike="noStrike">
                <a:solidFill>
                  <a:srgbClr val="888888"/>
                </a:solidFill>
                <a:latin typeface="Calibri"/>
                <a:ea typeface="Calibri"/>
                <a:cs typeface="Calibri"/>
                <a:sym typeface="Calibri"/>
              </a:defRPr>
            </a:lvl3pPr>
            <a:lvl4pPr indent="0" lvl="3" marL="0" marR="0" algn="r">
              <a:spcBef>
                <a:spcPts val="0"/>
              </a:spcBef>
              <a:buNone/>
              <a:defRPr b="0" i="0" sz="800" u="none" cap="none" strike="noStrike">
                <a:solidFill>
                  <a:srgbClr val="888888"/>
                </a:solidFill>
                <a:latin typeface="Calibri"/>
                <a:ea typeface="Calibri"/>
                <a:cs typeface="Calibri"/>
                <a:sym typeface="Calibri"/>
              </a:defRPr>
            </a:lvl4pPr>
            <a:lvl5pPr indent="0" lvl="4" marL="0" marR="0" algn="r">
              <a:spcBef>
                <a:spcPts val="0"/>
              </a:spcBef>
              <a:buNone/>
              <a:defRPr b="0" i="0" sz="800" u="none" cap="none" strike="noStrike">
                <a:solidFill>
                  <a:srgbClr val="888888"/>
                </a:solidFill>
                <a:latin typeface="Calibri"/>
                <a:ea typeface="Calibri"/>
                <a:cs typeface="Calibri"/>
                <a:sym typeface="Calibri"/>
              </a:defRPr>
            </a:lvl5pPr>
            <a:lvl6pPr indent="0" lvl="5" marL="0" marR="0" algn="r">
              <a:spcBef>
                <a:spcPts val="0"/>
              </a:spcBef>
              <a:buNone/>
              <a:defRPr b="0" i="0" sz="800" u="none" cap="none" strike="noStrike">
                <a:solidFill>
                  <a:srgbClr val="888888"/>
                </a:solidFill>
                <a:latin typeface="Calibri"/>
                <a:ea typeface="Calibri"/>
                <a:cs typeface="Calibri"/>
                <a:sym typeface="Calibri"/>
              </a:defRPr>
            </a:lvl6pPr>
            <a:lvl7pPr indent="0" lvl="6" marL="0" marR="0" algn="r">
              <a:spcBef>
                <a:spcPts val="0"/>
              </a:spcBef>
              <a:buNone/>
              <a:defRPr b="0" i="0" sz="800" u="none" cap="none" strike="noStrike">
                <a:solidFill>
                  <a:srgbClr val="888888"/>
                </a:solidFill>
                <a:latin typeface="Calibri"/>
                <a:ea typeface="Calibri"/>
                <a:cs typeface="Calibri"/>
                <a:sym typeface="Calibri"/>
              </a:defRPr>
            </a:lvl7pPr>
            <a:lvl8pPr indent="0" lvl="7" marL="0" marR="0" algn="r">
              <a:spcBef>
                <a:spcPts val="0"/>
              </a:spcBef>
              <a:buNone/>
              <a:defRPr b="0" i="0" sz="800" u="none" cap="none" strike="noStrike">
                <a:solidFill>
                  <a:srgbClr val="888888"/>
                </a:solidFill>
                <a:latin typeface="Calibri"/>
                <a:ea typeface="Calibri"/>
                <a:cs typeface="Calibri"/>
                <a:sym typeface="Calibri"/>
              </a:defRPr>
            </a:lvl8pPr>
            <a:lvl9pPr indent="0" lvl="8" marL="0" marR="0" algn="r">
              <a:spcBef>
                <a:spcPts val="0"/>
              </a:spcBef>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5.jpg"/><Relationship Id="rId6" Type="http://schemas.openxmlformats.org/officeDocument/2006/relationships/image" Target="../media/image4.jpg"/><Relationship Id="rId7" Type="http://schemas.openxmlformats.org/officeDocument/2006/relationships/image" Target="../media/image3.jpg"/></Relationships>
</file>

<file path=ppt/slides/_rels/slide3.xml.rels><?xml version="1.0" encoding="UTF-8"?><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hyperlink" Target="https://github.com/nikkiDong/EVA.git" TargetMode="Externa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hyperlink" Target="https://nikkidong.github.io/" TargetMode="Externa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1" name="Shape 91"/>
        <p:cNvGrpSpPr/>
        <p:nvPr/>
      </p:nvGrpSpPr>
      <p:grpSpPr>
        <a:xfrm>
          <a:off x="0" y="0"/>
          <a:ext cx="0" cy="0"/>
          <a:chOff x="0" y="0"/>
          <a:chExt cx="0" cy="0"/>
        </a:xfrm>
      </p:grpSpPr>
      <p:sp>
        <p:nvSpPr>
          <p:cNvPr id="92" name="Google Shape;92;p1"/>
          <p:cNvSpPr/>
          <p:nvPr/>
        </p:nvSpPr>
        <p:spPr>
          <a:xfrm>
            <a:off x="0" y="0"/>
            <a:ext cx="12161520" cy="73152"/>
          </a:xfrm>
          <a:prstGeom prst="rect">
            <a:avLst/>
          </a:prstGeom>
          <a:solidFill>
            <a:srgbClr val="3D8DA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8046720" y="-1371600"/>
            <a:ext cx="5486400" cy="5486400"/>
          </a:xfrm>
          <a:prstGeom prst="ellipse">
            <a:avLst/>
          </a:prstGeom>
          <a:solidFill>
            <a:srgbClr val="4E6E81">
              <a:alpha val="3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
          <p:cNvSpPr/>
          <p:nvPr/>
        </p:nvSpPr>
        <p:spPr>
          <a:xfrm>
            <a:off x="8961120" y="3200400"/>
            <a:ext cx="4572000" cy="4572000"/>
          </a:xfrm>
          <a:prstGeom prst="ellipse">
            <a:avLst/>
          </a:prstGeom>
          <a:solidFill>
            <a:srgbClr val="1B3A4B">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5" name="Google Shape;95;p1"/>
          <p:cNvPicPr preferRelativeResize="0"/>
          <p:nvPr/>
        </p:nvPicPr>
        <p:blipFill rotWithShape="1">
          <a:blip r:embed="rId3">
            <a:alphaModFix/>
          </a:blip>
          <a:srcRect b="0" l="0" r="0" t="0"/>
          <a:stretch/>
        </p:blipFill>
        <p:spPr>
          <a:xfrm>
            <a:off x="548640" y="457200"/>
            <a:ext cx="731520" cy="731520"/>
          </a:xfrm>
          <a:prstGeom prst="rect">
            <a:avLst/>
          </a:prstGeom>
          <a:noFill/>
          <a:ln>
            <a:noFill/>
          </a:ln>
        </p:spPr>
      </p:pic>
      <p:sp>
        <p:nvSpPr>
          <p:cNvPr id="96" name="Google Shape;96;p1"/>
          <p:cNvSpPr/>
          <p:nvPr/>
        </p:nvSpPr>
        <p:spPr>
          <a:xfrm>
            <a:off x="548640" y="1645920"/>
            <a:ext cx="7315200" cy="2011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4400"/>
              <a:buFont typeface="Calibri"/>
              <a:buNone/>
            </a:pPr>
            <a:r>
              <a:rPr b="1" i="0" lang="en-US" sz="4400" u="none" cap="none" strike="noStrike">
                <a:solidFill>
                  <a:schemeClr val="dk1"/>
                </a:solidFill>
                <a:latin typeface="Calibri"/>
                <a:ea typeface="Calibri"/>
                <a:cs typeface="Calibri"/>
                <a:sym typeface="Calibri"/>
              </a:rPr>
              <a:t>Empowerment That</a:t>
            </a:r>
            <a:endParaRPr b="1" i="0" sz="44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4400"/>
              <a:buFont typeface="Calibri"/>
              <a:buNone/>
            </a:pPr>
            <a:r>
              <a:rPr b="1" i="0" lang="en-US" sz="4400" u="none" cap="none" strike="noStrike">
                <a:solidFill>
                  <a:schemeClr val="dk1"/>
                </a:solidFill>
                <a:latin typeface="Calibri"/>
                <a:ea typeface="Calibri"/>
                <a:cs typeface="Calibri"/>
                <a:sym typeface="Calibri"/>
              </a:rPr>
              <a:t>Values All (EVA)</a:t>
            </a:r>
            <a:endParaRPr b="1" i="0" sz="4400" u="none" cap="none" strike="noStrike">
              <a:solidFill>
                <a:schemeClr val="dk1"/>
              </a:solidFill>
              <a:latin typeface="Calibri"/>
              <a:ea typeface="Calibri"/>
              <a:cs typeface="Calibri"/>
              <a:sym typeface="Calibri"/>
            </a:endParaRPr>
          </a:p>
        </p:txBody>
      </p:sp>
      <p:sp>
        <p:nvSpPr>
          <p:cNvPr id="97" name="Google Shape;97;p1"/>
          <p:cNvSpPr/>
          <p:nvPr/>
        </p:nvSpPr>
        <p:spPr>
          <a:xfrm>
            <a:off x="548640" y="3566160"/>
            <a:ext cx="4572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D8DAE"/>
              </a:buClr>
              <a:buSzPts val="1600"/>
              <a:buFont typeface="Calibri"/>
              <a:buNone/>
            </a:pPr>
            <a:r>
              <a:rPr lang="en-US" sz="1600">
                <a:solidFill>
                  <a:srgbClr val="3D8DAE"/>
                </a:solidFill>
                <a:latin typeface="Calibri"/>
                <a:ea typeface="Calibri"/>
                <a:cs typeface="Calibri"/>
                <a:sym typeface="Calibri"/>
              </a:rPr>
              <a:t>Final Presentation</a:t>
            </a:r>
            <a:endParaRPr b="0" i="0" sz="1600" u="none" cap="none" strike="noStrike">
              <a:solidFill>
                <a:schemeClr val="dk1"/>
              </a:solidFill>
              <a:latin typeface="Calibri"/>
              <a:ea typeface="Calibri"/>
              <a:cs typeface="Calibri"/>
              <a:sym typeface="Calibri"/>
            </a:endParaRPr>
          </a:p>
        </p:txBody>
      </p:sp>
      <p:sp>
        <p:nvSpPr>
          <p:cNvPr id="98" name="Google Shape;98;p1"/>
          <p:cNvSpPr/>
          <p:nvPr/>
        </p:nvSpPr>
        <p:spPr>
          <a:xfrm>
            <a:off x="548640" y="4114800"/>
            <a:ext cx="1828800" cy="36576"/>
          </a:xfrm>
          <a:prstGeom prst="rect">
            <a:avLst/>
          </a:prstGeom>
          <a:solidFill>
            <a:srgbClr val="3D8DA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a:off x="548640" y="4754880"/>
            <a:ext cx="2743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Calibri"/>
              <a:buNone/>
            </a:pPr>
            <a:r>
              <a:rPr lang="en-US" sz="1300">
                <a:solidFill>
                  <a:srgbClr val="9CA3AF"/>
                </a:solidFill>
                <a:latin typeface="Calibri"/>
                <a:ea typeface="Calibri"/>
                <a:cs typeface="Calibri"/>
                <a:sym typeface="Calibri"/>
              </a:rPr>
              <a:t>27 April</a:t>
            </a:r>
            <a:r>
              <a:rPr b="0" i="0" lang="en-US" sz="1300" u="none" cap="none" strike="noStrike">
                <a:solidFill>
                  <a:srgbClr val="9CA3AF"/>
                </a:solidFill>
                <a:latin typeface="Calibri"/>
                <a:ea typeface="Calibri"/>
                <a:cs typeface="Calibri"/>
                <a:sym typeface="Calibri"/>
              </a:rPr>
              <a:t>, 2026</a:t>
            </a:r>
            <a:endParaRPr b="0" i="0" sz="1300" u="none" cap="none" strike="noStrike">
              <a:solidFill>
                <a:schemeClr val="dk1"/>
              </a:solidFill>
              <a:latin typeface="Calibri"/>
              <a:ea typeface="Calibri"/>
              <a:cs typeface="Calibri"/>
              <a:sym typeface="Calibri"/>
            </a:endParaRPr>
          </a:p>
        </p:txBody>
      </p:sp>
      <p:sp>
        <p:nvSpPr>
          <p:cNvPr id="100" name="Google Shape;100;p1"/>
          <p:cNvSpPr/>
          <p:nvPr/>
        </p:nvSpPr>
        <p:spPr>
          <a:xfrm>
            <a:off x="548640" y="521208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9E9C"/>
              </a:buClr>
              <a:buSzPts val="1100"/>
              <a:buFont typeface="Calibri"/>
              <a:buNone/>
            </a:pPr>
            <a:r>
              <a:rPr b="0" i="0" lang="en-US" sz="1100" u="none" cap="none" strike="noStrike">
                <a:solidFill>
                  <a:srgbClr val="A79E9C"/>
                </a:solidFill>
                <a:latin typeface="Calibri"/>
                <a:ea typeface="Calibri"/>
                <a:cs typeface="Calibri"/>
                <a:sym typeface="Calibri"/>
              </a:rPr>
              <a:t>Nikki Dong  |  Muhammad Shahpur Sheraz  |  Derek Fuls  |  Ishan Patel</a:t>
            </a:r>
            <a:endParaRPr b="0" i="0" sz="1100" u="none" cap="none" strike="noStrike">
              <a:solidFill>
                <a:schemeClr val="dk1"/>
              </a:solidFill>
              <a:latin typeface="Calibri"/>
              <a:ea typeface="Calibri"/>
              <a:cs typeface="Calibri"/>
              <a:sym typeface="Calibri"/>
            </a:endParaRPr>
          </a:p>
        </p:txBody>
      </p:sp>
      <p:sp>
        <p:nvSpPr>
          <p:cNvPr id="101" name="Google Shape;101;p1"/>
          <p:cNvSpPr/>
          <p:nvPr/>
        </p:nvSpPr>
        <p:spPr>
          <a:xfrm>
            <a:off x="10789920" y="6446520"/>
            <a:ext cx="109728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1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06" name="Shape 106"/>
        <p:cNvGrpSpPr/>
        <p:nvPr/>
      </p:nvGrpSpPr>
      <p:grpSpPr>
        <a:xfrm>
          <a:off x="0" y="0"/>
          <a:ext cx="0" cy="0"/>
          <a:chOff x="0" y="0"/>
          <a:chExt cx="0" cy="0"/>
        </a:xfrm>
      </p:grpSpPr>
      <p:sp>
        <p:nvSpPr>
          <p:cNvPr id="107" name="Google Shape;107;p2"/>
          <p:cNvSpPr/>
          <p:nvPr/>
        </p:nvSpPr>
        <p:spPr>
          <a:xfrm>
            <a:off x="0" y="0"/>
            <a:ext cx="12161520" cy="54864"/>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8" name="Google Shape;108;p2"/>
          <p:cNvPicPr preferRelativeResize="0"/>
          <p:nvPr/>
        </p:nvPicPr>
        <p:blipFill rotWithShape="1">
          <a:blip r:embed="rId3">
            <a:alphaModFix/>
          </a:blip>
          <a:srcRect b="0" l="0" r="0" t="0"/>
          <a:stretch/>
        </p:blipFill>
        <p:spPr>
          <a:xfrm>
            <a:off x="11247120" y="182880"/>
            <a:ext cx="594360" cy="594360"/>
          </a:xfrm>
          <a:prstGeom prst="rect">
            <a:avLst/>
          </a:prstGeom>
          <a:noFill/>
          <a:ln>
            <a:noFill/>
          </a:ln>
        </p:spPr>
      </p:pic>
      <p:sp>
        <p:nvSpPr>
          <p:cNvPr id="109" name="Google Shape;109;p2"/>
          <p:cNvSpPr/>
          <p:nvPr/>
        </p:nvSpPr>
        <p:spPr>
          <a:xfrm>
            <a:off x="10789920" y="6446520"/>
            <a:ext cx="109728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2 / 10</a:t>
            </a:r>
            <a:endParaRPr b="0" i="0" sz="900" u="none" cap="none" strike="noStrike">
              <a:solidFill>
                <a:schemeClr val="dk1"/>
              </a:solidFill>
              <a:latin typeface="Calibri"/>
              <a:ea typeface="Calibri"/>
              <a:cs typeface="Calibri"/>
              <a:sym typeface="Calibri"/>
            </a:endParaRPr>
          </a:p>
        </p:txBody>
      </p:sp>
      <p:sp>
        <p:nvSpPr>
          <p:cNvPr id="110" name="Google Shape;110;p2"/>
          <p:cNvSpPr/>
          <p:nvPr/>
        </p:nvSpPr>
        <p:spPr>
          <a:xfrm>
            <a:off x="548640" y="274320"/>
            <a:ext cx="91440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3000"/>
              <a:buFont typeface="Calibri"/>
              <a:buNone/>
            </a:pPr>
            <a:r>
              <a:rPr b="1" i="0" lang="en-US" sz="3200" u="none" cap="none" strike="noStrike">
                <a:solidFill>
                  <a:srgbClr val="1A1A2E"/>
                </a:solidFill>
                <a:latin typeface="Calibri"/>
                <a:ea typeface="Calibri"/>
                <a:cs typeface="Calibri"/>
                <a:sym typeface="Calibri"/>
              </a:rPr>
              <a:t>Team Introduction</a:t>
            </a:r>
            <a:endParaRPr b="0" i="0" sz="3200" u="none" cap="none" strike="noStrike">
              <a:solidFill>
                <a:schemeClr val="dk1"/>
              </a:solidFill>
              <a:latin typeface="Calibri"/>
              <a:ea typeface="Calibri"/>
              <a:cs typeface="Calibri"/>
              <a:sym typeface="Calibri"/>
            </a:endParaRPr>
          </a:p>
        </p:txBody>
      </p:sp>
      <p:sp>
        <p:nvSpPr>
          <p:cNvPr id="111" name="Google Shape;111;p2"/>
          <p:cNvSpPr/>
          <p:nvPr/>
        </p:nvSpPr>
        <p:spPr>
          <a:xfrm>
            <a:off x="3330464" y="1645895"/>
            <a:ext cx="2469000" cy="42063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
          <p:cNvSpPr/>
          <p:nvPr/>
        </p:nvSpPr>
        <p:spPr>
          <a:xfrm>
            <a:off x="3330464" y="1645895"/>
            <a:ext cx="2469000" cy="54900"/>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 name="Google Shape;113;p2"/>
          <p:cNvPicPr preferRelativeResize="0"/>
          <p:nvPr/>
        </p:nvPicPr>
        <p:blipFill rotWithShape="1">
          <a:blip r:embed="rId4">
            <a:alphaModFix/>
          </a:blip>
          <a:srcRect b="0" l="0" r="0" t="0"/>
          <a:stretch/>
        </p:blipFill>
        <p:spPr>
          <a:xfrm>
            <a:off x="3833376" y="1768626"/>
            <a:ext cx="1463100" cy="1706100"/>
          </a:xfrm>
          <a:prstGeom prst="ellipse">
            <a:avLst/>
          </a:prstGeom>
          <a:noFill/>
          <a:ln>
            <a:noFill/>
          </a:ln>
        </p:spPr>
      </p:pic>
      <p:sp>
        <p:nvSpPr>
          <p:cNvPr id="114" name="Google Shape;114;p2"/>
          <p:cNvSpPr/>
          <p:nvPr/>
        </p:nvSpPr>
        <p:spPr>
          <a:xfrm>
            <a:off x="3467625" y="3657575"/>
            <a:ext cx="2194500" cy="502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A1A2E"/>
              </a:buClr>
              <a:buSzPts val="1300"/>
              <a:buFont typeface="Calibri"/>
              <a:buNone/>
            </a:pPr>
            <a:r>
              <a:rPr b="1" i="0" lang="en-US" sz="1300" u="none" cap="none" strike="noStrike">
                <a:solidFill>
                  <a:srgbClr val="1A1A2E"/>
                </a:solidFill>
                <a:latin typeface="Calibri"/>
                <a:ea typeface="Calibri"/>
                <a:cs typeface="Calibri"/>
                <a:sym typeface="Calibri"/>
              </a:rPr>
              <a:t>Nikki Dong</a:t>
            </a:r>
            <a:endParaRPr b="0" i="0" sz="1300" u="none" cap="none" strike="noStrike">
              <a:solidFill>
                <a:schemeClr val="dk1"/>
              </a:solidFill>
              <a:latin typeface="Calibri"/>
              <a:ea typeface="Calibri"/>
              <a:cs typeface="Calibri"/>
              <a:sym typeface="Calibri"/>
            </a:endParaRPr>
          </a:p>
        </p:txBody>
      </p:sp>
      <p:sp>
        <p:nvSpPr>
          <p:cNvPr id="115" name="Google Shape;115;p2"/>
          <p:cNvSpPr/>
          <p:nvPr/>
        </p:nvSpPr>
        <p:spPr>
          <a:xfrm>
            <a:off x="3467625" y="4206215"/>
            <a:ext cx="2194500" cy="64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4E6E81"/>
              </a:buClr>
              <a:buSzPts val="1000"/>
              <a:buFont typeface="Calibri"/>
              <a:buNone/>
            </a:pPr>
            <a:r>
              <a:rPr b="1" i="0" lang="en-US" sz="1500" u="none" cap="none" strike="noStrike">
                <a:solidFill>
                  <a:srgbClr val="4E6E81"/>
                </a:solidFill>
                <a:latin typeface="Calibri"/>
                <a:ea typeface="Calibri"/>
                <a:cs typeface="Calibri"/>
                <a:sym typeface="Calibri"/>
              </a:rPr>
              <a:t>Major: </a:t>
            </a:r>
            <a:r>
              <a:rPr b="0" i="0" lang="en-US" sz="1500" u="none" cap="none" strike="noStrike">
                <a:solidFill>
                  <a:srgbClr val="6B7280"/>
                </a:solidFill>
                <a:latin typeface="Calibri"/>
                <a:ea typeface="Calibri"/>
                <a:cs typeface="Calibri"/>
                <a:sym typeface="Calibri"/>
              </a:rPr>
              <a:t>MIS</a:t>
            </a:r>
            <a:endParaRPr b="0" i="0" sz="1500" u="none" cap="none" strike="noStrike">
              <a:solidFill>
                <a:schemeClr val="dk1"/>
              </a:solidFill>
              <a:latin typeface="Calibri"/>
              <a:ea typeface="Calibri"/>
              <a:cs typeface="Calibri"/>
              <a:sym typeface="Calibri"/>
            </a:endParaRPr>
          </a:p>
        </p:txBody>
      </p:sp>
      <p:sp>
        <p:nvSpPr>
          <p:cNvPr id="116" name="Google Shape;116;p2"/>
          <p:cNvSpPr/>
          <p:nvPr/>
        </p:nvSpPr>
        <p:spPr>
          <a:xfrm>
            <a:off x="3467625" y="4629720"/>
            <a:ext cx="21945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4E6E81"/>
              </a:buClr>
              <a:buSzPts val="1000"/>
              <a:buFont typeface="Calibri"/>
              <a:buNone/>
            </a:pPr>
            <a:r>
              <a:rPr b="1" i="0" lang="en-US" sz="1500" u="none" cap="none" strike="noStrike">
                <a:solidFill>
                  <a:srgbClr val="4E6E81"/>
                </a:solidFill>
                <a:latin typeface="Calibri"/>
                <a:ea typeface="Calibri"/>
                <a:cs typeface="Calibri"/>
                <a:sym typeface="Calibri"/>
              </a:rPr>
              <a:t>Minor: </a:t>
            </a:r>
            <a:r>
              <a:rPr b="0" i="0" lang="en-US" sz="1500" u="none" cap="none" strike="noStrike">
                <a:solidFill>
                  <a:srgbClr val="6B7280"/>
                </a:solidFill>
                <a:latin typeface="Calibri"/>
                <a:ea typeface="Calibri"/>
                <a:cs typeface="Calibri"/>
                <a:sym typeface="Calibri"/>
              </a:rPr>
              <a:t>Business Analytics</a:t>
            </a:r>
            <a:endParaRPr b="0" i="0" sz="1500" u="none" cap="none" strike="noStrike">
              <a:solidFill>
                <a:schemeClr val="dk1"/>
              </a:solidFill>
              <a:latin typeface="Calibri"/>
              <a:ea typeface="Calibri"/>
              <a:cs typeface="Calibri"/>
              <a:sym typeface="Calibri"/>
            </a:endParaRPr>
          </a:p>
        </p:txBody>
      </p:sp>
      <p:sp>
        <p:nvSpPr>
          <p:cNvPr id="117" name="Google Shape;117;p2"/>
          <p:cNvSpPr/>
          <p:nvPr/>
        </p:nvSpPr>
        <p:spPr>
          <a:xfrm>
            <a:off x="548660" y="1645882"/>
            <a:ext cx="2469000" cy="42063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
          <p:cNvSpPr/>
          <p:nvPr/>
        </p:nvSpPr>
        <p:spPr>
          <a:xfrm>
            <a:off x="548660" y="1645883"/>
            <a:ext cx="2469000" cy="54900"/>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9" name="Google Shape;119;p2"/>
          <p:cNvPicPr preferRelativeResize="0"/>
          <p:nvPr/>
        </p:nvPicPr>
        <p:blipFill rotWithShape="1">
          <a:blip r:embed="rId5">
            <a:alphaModFix/>
          </a:blip>
          <a:srcRect b="0" l="0" r="0" t="0"/>
          <a:stretch/>
        </p:blipFill>
        <p:spPr>
          <a:xfrm>
            <a:off x="1051575" y="1768613"/>
            <a:ext cx="1463100" cy="1706100"/>
          </a:xfrm>
          <a:prstGeom prst="ellipse">
            <a:avLst/>
          </a:prstGeom>
          <a:noFill/>
          <a:ln>
            <a:noFill/>
          </a:ln>
        </p:spPr>
      </p:pic>
      <p:sp>
        <p:nvSpPr>
          <p:cNvPr id="120" name="Google Shape;120;p2"/>
          <p:cNvSpPr/>
          <p:nvPr/>
        </p:nvSpPr>
        <p:spPr>
          <a:xfrm>
            <a:off x="685820" y="3657563"/>
            <a:ext cx="2194500" cy="502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A1A2E"/>
              </a:buClr>
              <a:buSzPts val="1300"/>
              <a:buFont typeface="Calibri"/>
              <a:buNone/>
            </a:pPr>
            <a:r>
              <a:rPr b="1" i="0" lang="en-US" sz="1300" u="none" cap="none" strike="noStrike">
                <a:solidFill>
                  <a:srgbClr val="1A1A2E"/>
                </a:solidFill>
                <a:latin typeface="Calibri"/>
                <a:ea typeface="Calibri"/>
                <a:cs typeface="Calibri"/>
                <a:sym typeface="Calibri"/>
              </a:rPr>
              <a:t>Derek Fuls</a:t>
            </a:r>
            <a:endParaRPr b="0" i="0" sz="1300" u="none" cap="none" strike="noStrike">
              <a:solidFill>
                <a:schemeClr val="dk1"/>
              </a:solidFill>
              <a:latin typeface="Calibri"/>
              <a:ea typeface="Calibri"/>
              <a:cs typeface="Calibri"/>
              <a:sym typeface="Calibri"/>
            </a:endParaRPr>
          </a:p>
        </p:txBody>
      </p:sp>
      <p:sp>
        <p:nvSpPr>
          <p:cNvPr id="121" name="Google Shape;121;p2"/>
          <p:cNvSpPr/>
          <p:nvPr/>
        </p:nvSpPr>
        <p:spPr>
          <a:xfrm>
            <a:off x="685820" y="4206203"/>
            <a:ext cx="2194500" cy="64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4E6E81"/>
              </a:buClr>
              <a:buSzPts val="1000"/>
              <a:buFont typeface="Calibri"/>
              <a:buNone/>
            </a:pPr>
            <a:r>
              <a:rPr b="1" i="0" lang="en-US" sz="1500" u="none" cap="none" strike="noStrike">
                <a:solidFill>
                  <a:srgbClr val="4E6E81"/>
                </a:solidFill>
                <a:latin typeface="Calibri"/>
                <a:ea typeface="Calibri"/>
                <a:cs typeface="Calibri"/>
                <a:sym typeface="Calibri"/>
              </a:rPr>
              <a:t>Major: </a:t>
            </a:r>
            <a:r>
              <a:rPr b="0" i="0" lang="en-US" sz="1500" u="none" cap="none" strike="noStrike">
                <a:solidFill>
                  <a:srgbClr val="6B7280"/>
                </a:solidFill>
                <a:latin typeface="Calibri"/>
                <a:ea typeface="Calibri"/>
                <a:cs typeface="Calibri"/>
                <a:sym typeface="Calibri"/>
              </a:rPr>
              <a:t>Accounting &amp; MIS</a:t>
            </a:r>
            <a:endParaRPr b="0" i="0" sz="1500" u="none" cap="none" strike="noStrike">
              <a:solidFill>
                <a:schemeClr val="dk1"/>
              </a:solidFill>
              <a:latin typeface="Calibri"/>
              <a:ea typeface="Calibri"/>
              <a:cs typeface="Calibri"/>
              <a:sym typeface="Calibri"/>
            </a:endParaRPr>
          </a:p>
        </p:txBody>
      </p:sp>
      <p:sp>
        <p:nvSpPr>
          <p:cNvPr id="122" name="Google Shape;122;p2"/>
          <p:cNvSpPr/>
          <p:nvPr/>
        </p:nvSpPr>
        <p:spPr>
          <a:xfrm>
            <a:off x="6112268" y="1645895"/>
            <a:ext cx="2469000" cy="420630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6112268" y="1645896"/>
            <a:ext cx="2469000" cy="54900"/>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4" name="Google Shape;124;p2"/>
          <p:cNvPicPr preferRelativeResize="0"/>
          <p:nvPr/>
        </p:nvPicPr>
        <p:blipFill rotWithShape="1">
          <a:blip r:embed="rId6">
            <a:alphaModFix/>
          </a:blip>
          <a:srcRect b="0" l="0" r="0" t="0"/>
          <a:stretch/>
        </p:blipFill>
        <p:spPr>
          <a:xfrm>
            <a:off x="6615188" y="1768600"/>
            <a:ext cx="1463100" cy="1706100"/>
          </a:xfrm>
          <a:prstGeom prst="ellipse">
            <a:avLst/>
          </a:prstGeom>
          <a:noFill/>
          <a:ln>
            <a:noFill/>
          </a:ln>
        </p:spPr>
      </p:pic>
      <p:sp>
        <p:nvSpPr>
          <p:cNvPr id="125" name="Google Shape;125;p2"/>
          <p:cNvSpPr/>
          <p:nvPr/>
        </p:nvSpPr>
        <p:spPr>
          <a:xfrm>
            <a:off x="6249428" y="3657575"/>
            <a:ext cx="2194500" cy="502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A1A2E"/>
              </a:buClr>
              <a:buSzPts val="1300"/>
              <a:buFont typeface="Calibri"/>
              <a:buNone/>
            </a:pPr>
            <a:r>
              <a:rPr b="1" i="0" lang="en-US" sz="1300" u="none" cap="none" strike="noStrike">
                <a:solidFill>
                  <a:srgbClr val="1A1A2E"/>
                </a:solidFill>
                <a:latin typeface="Calibri"/>
                <a:ea typeface="Calibri"/>
                <a:cs typeface="Calibri"/>
                <a:sym typeface="Calibri"/>
              </a:rPr>
              <a:t>Ishan Patel</a:t>
            </a:r>
            <a:endParaRPr b="0" i="0" sz="1300" u="none" cap="none" strike="noStrike">
              <a:solidFill>
                <a:schemeClr val="dk1"/>
              </a:solidFill>
              <a:latin typeface="Calibri"/>
              <a:ea typeface="Calibri"/>
              <a:cs typeface="Calibri"/>
              <a:sym typeface="Calibri"/>
            </a:endParaRPr>
          </a:p>
        </p:txBody>
      </p:sp>
      <p:sp>
        <p:nvSpPr>
          <p:cNvPr id="126" name="Google Shape;126;p2"/>
          <p:cNvSpPr/>
          <p:nvPr/>
        </p:nvSpPr>
        <p:spPr>
          <a:xfrm>
            <a:off x="6249428" y="4206216"/>
            <a:ext cx="2194500" cy="64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4E6E81"/>
              </a:buClr>
              <a:buSzPts val="1000"/>
              <a:buFont typeface="Calibri"/>
              <a:buNone/>
            </a:pPr>
            <a:r>
              <a:rPr b="1" i="0" lang="en-US" sz="1500" u="none" cap="none" strike="noStrike">
                <a:solidFill>
                  <a:srgbClr val="4E6E81"/>
                </a:solidFill>
                <a:latin typeface="Calibri"/>
                <a:ea typeface="Calibri"/>
                <a:cs typeface="Calibri"/>
                <a:sym typeface="Calibri"/>
              </a:rPr>
              <a:t>Major: </a:t>
            </a:r>
            <a:r>
              <a:rPr b="0" i="0" lang="en-US" sz="1500" u="none" cap="none" strike="noStrike">
                <a:solidFill>
                  <a:srgbClr val="6B7280"/>
                </a:solidFill>
                <a:latin typeface="Calibri"/>
                <a:ea typeface="Calibri"/>
                <a:cs typeface="Calibri"/>
                <a:sym typeface="Calibri"/>
              </a:rPr>
              <a:t>Management Information Systems</a:t>
            </a:r>
            <a:endParaRPr b="0" i="0" sz="1500" u="none" cap="none" strike="noStrike">
              <a:solidFill>
                <a:schemeClr val="dk1"/>
              </a:solidFill>
              <a:latin typeface="Calibri"/>
              <a:ea typeface="Calibri"/>
              <a:cs typeface="Calibri"/>
              <a:sym typeface="Calibri"/>
            </a:endParaRPr>
          </a:p>
        </p:txBody>
      </p:sp>
      <p:sp>
        <p:nvSpPr>
          <p:cNvPr id="127" name="Google Shape;127;p2"/>
          <p:cNvSpPr/>
          <p:nvPr/>
        </p:nvSpPr>
        <p:spPr>
          <a:xfrm>
            <a:off x="9029700" y="1645920"/>
            <a:ext cx="2468880" cy="420624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9029700" y="1645920"/>
            <a:ext cx="2468880" cy="54864"/>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9" name="Google Shape;129;p2"/>
          <p:cNvPicPr preferRelativeResize="0"/>
          <p:nvPr/>
        </p:nvPicPr>
        <p:blipFill rotWithShape="1">
          <a:blip r:embed="rId7">
            <a:alphaModFix/>
          </a:blip>
          <a:srcRect b="0" l="0" r="0" t="0"/>
          <a:stretch/>
        </p:blipFill>
        <p:spPr>
          <a:xfrm>
            <a:off x="9532625" y="1768626"/>
            <a:ext cx="1463100" cy="1706100"/>
          </a:xfrm>
          <a:prstGeom prst="ellipse">
            <a:avLst/>
          </a:prstGeom>
          <a:noFill/>
          <a:ln>
            <a:noFill/>
          </a:ln>
        </p:spPr>
      </p:pic>
      <p:sp>
        <p:nvSpPr>
          <p:cNvPr id="130" name="Google Shape;130;p2"/>
          <p:cNvSpPr/>
          <p:nvPr/>
        </p:nvSpPr>
        <p:spPr>
          <a:xfrm>
            <a:off x="9166860" y="3657600"/>
            <a:ext cx="2194560" cy="50292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A1A2E"/>
              </a:buClr>
              <a:buSzPts val="1300"/>
              <a:buFont typeface="Calibri"/>
              <a:buNone/>
            </a:pPr>
            <a:r>
              <a:rPr b="1" i="0" lang="en-US" sz="1300" u="none" cap="none" strike="noStrike">
                <a:solidFill>
                  <a:srgbClr val="1A1A2E"/>
                </a:solidFill>
                <a:latin typeface="Calibri"/>
                <a:ea typeface="Calibri"/>
                <a:cs typeface="Calibri"/>
                <a:sym typeface="Calibri"/>
              </a:rPr>
              <a:t>Muhammad Shahpur Sheraz</a:t>
            </a:r>
            <a:endParaRPr b="0" i="0" sz="1300" u="none" cap="none" strike="noStrike">
              <a:solidFill>
                <a:schemeClr val="dk1"/>
              </a:solidFill>
              <a:latin typeface="Calibri"/>
              <a:ea typeface="Calibri"/>
              <a:cs typeface="Calibri"/>
              <a:sym typeface="Calibri"/>
            </a:endParaRPr>
          </a:p>
        </p:txBody>
      </p:sp>
      <p:sp>
        <p:nvSpPr>
          <p:cNvPr id="131" name="Google Shape;131;p2"/>
          <p:cNvSpPr/>
          <p:nvPr/>
        </p:nvSpPr>
        <p:spPr>
          <a:xfrm>
            <a:off x="9166860" y="4206240"/>
            <a:ext cx="2194560" cy="64008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4E6E81"/>
              </a:buClr>
              <a:buSzPts val="1000"/>
              <a:buFont typeface="Calibri"/>
              <a:buNone/>
            </a:pPr>
            <a:r>
              <a:rPr b="1" i="0" lang="en-US" sz="1500" u="none" cap="none" strike="noStrike">
                <a:solidFill>
                  <a:srgbClr val="4E6E81"/>
                </a:solidFill>
                <a:latin typeface="Calibri"/>
                <a:ea typeface="Calibri"/>
                <a:cs typeface="Calibri"/>
                <a:sym typeface="Calibri"/>
              </a:rPr>
              <a:t>Major: </a:t>
            </a:r>
            <a:r>
              <a:rPr b="0" i="0" lang="en-US" sz="1500" u="none" cap="none" strike="noStrike">
                <a:solidFill>
                  <a:srgbClr val="6B7280"/>
                </a:solidFill>
                <a:latin typeface="Calibri"/>
                <a:ea typeface="Calibri"/>
                <a:cs typeface="Calibri"/>
                <a:sym typeface="Calibri"/>
              </a:rPr>
              <a:t>Management Information Systems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36" name="Shape 136"/>
        <p:cNvGrpSpPr/>
        <p:nvPr/>
      </p:nvGrpSpPr>
      <p:grpSpPr>
        <a:xfrm>
          <a:off x="0" y="0"/>
          <a:ext cx="0" cy="0"/>
          <a:chOff x="0" y="0"/>
          <a:chExt cx="0" cy="0"/>
        </a:xfrm>
      </p:grpSpPr>
      <p:sp>
        <p:nvSpPr>
          <p:cNvPr id="137" name="Google Shape;137;g3d712f1194d_2_1"/>
          <p:cNvSpPr/>
          <p:nvPr/>
        </p:nvSpPr>
        <p:spPr>
          <a:xfrm>
            <a:off x="0" y="0"/>
            <a:ext cx="12161400" cy="54900"/>
          </a:xfrm>
          <a:prstGeom prst="rect">
            <a:avLst/>
          </a:prstGeom>
          <a:solidFill>
            <a:srgbClr val="3D8DA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138" name="Google Shape;138;g3d712f1194d_2_1"/>
          <p:cNvSpPr/>
          <p:nvPr/>
        </p:nvSpPr>
        <p:spPr>
          <a:xfrm>
            <a:off x="548640" y="365760"/>
            <a:ext cx="7315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en-US" sz="3500">
                <a:solidFill>
                  <a:schemeClr val="dk1"/>
                </a:solidFill>
                <a:latin typeface="Calibri"/>
                <a:ea typeface="Calibri"/>
                <a:cs typeface="Calibri"/>
                <a:sym typeface="Calibri"/>
              </a:rPr>
              <a:t>Agenda Overview</a:t>
            </a:r>
            <a:endParaRPr b="0" i="0" sz="3500" u="none" cap="none" strike="noStrike">
              <a:solidFill>
                <a:schemeClr val="dk1"/>
              </a:solidFill>
              <a:latin typeface="Calibri"/>
              <a:ea typeface="Calibri"/>
              <a:cs typeface="Calibri"/>
              <a:sym typeface="Calibri"/>
            </a:endParaRPr>
          </a:p>
        </p:txBody>
      </p:sp>
      <p:sp>
        <p:nvSpPr>
          <p:cNvPr id="139" name="Google Shape;139;g3d712f1194d_2_1"/>
          <p:cNvSpPr/>
          <p:nvPr/>
        </p:nvSpPr>
        <p:spPr>
          <a:xfrm>
            <a:off x="777240" y="1463040"/>
            <a:ext cx="5029200" cy="1097400"/>
          </a:xfrm>
          <a:prstGeom prst="rect">
            <a:avLst/>
          </a:prstGeom>
          <a:solidFill>
            <a:srgbClr val="4E6E81">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solidFill>
                <a:schemeClr val="dk1"/>
              </a:solidFill>
            </a:endParaRPr>
          </a:p>
        </p:txBody>
      </p:sp>
      <p:sp>
        <p:nvSpPr>
          <p:cNvPr id="140" name="Google Shape;140;g3d712f1194d_2_1"/>
          <p:cNvSpPr/>
          <p:nvPr/>
        </p:nvSpPr>
        <p:spPr>
          <a:xfrm>
            <a:off x="1005840" y="1600200"/>
            <a:ext cx="640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8DAE"/>
              </a:buClr>
              <a:buSzPts val="3200"/>
              <a:buFont typeface="Calibri"/>
              <a:buNone/>
            </a:pPr>
            <a:r>
              <a:rPr b="1" i="0" lang="en-US" sz="3700" u="none" cap="none" strike="noStrike">
                <a:solidFill>
                  <a:srgbClr val="3D8DAE"/>
                </a:solidFill>
                <a:latin typeface="Calibri"/>
                <a:ea typeface="Calibri"/>
                <a:cs typeface="Calibri"/>
                <a:sym typeface="Calibri"/>
              </a:rPr>
              <a:t>01</a:t>
            </a:r>
            <a:endParaRPr b="0" i="0" sz="3700" u="none" cap="none" strike="noStrike">
              <a:solidFill>
                <a:srgbClr val="3D8DAE"/>
              </a:solidFill>
              <a:latin typeface="Calibri"/>
              <a:ea typeface="Calibri"/>
              <a:cs typeface="Calibri"/>
              <a:sym typeface="Calibri"/>
            </a:endParaRPr>
          </a:p>
        </p:txBody>
      </p:sp>
      <p:sp>
        <p:nvSpPr>
          <p:cNvPr id="141" name="Google Shape;141;g3d712f1194d_2_1"/>
          <p:cNvSpPr/>
          <p:nvPr/>
        </p:nvSpPr>
        <p:spPr>
          <a:xfrm>
            <a:off x="1783080" y="1463040"/>
            <a:ext cx="38406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2000" u="none" cap="none" strike="noStrike">
                <a:solidFill>
                  <a:schemeClr val="dk1"/>
                </a:solidFill>
                <a:latin typeface="Calibri"/>
                <a:ea typeface="Calibri"/>
                <a:cs typeface="Calibri"/>
                <a:sym typeface="Calibri"/>
              </a:rPr>
              <a:t>PROJECT CONTEXT &amp; S</a:t>
            </a:r>
            <a:r>
              <a:rPr b="1" lang="en-US" sz="2000">
                <a:solidFill>
                  <a:schemeClr val="dk1"/>
                </a:solidFill>
                <a:latin typeface="Calibri"/>
                <a:ea typeface="Calibri"/>
                <a:cs typeface="Calibri"/>
                <a:sym typeface="Calibri"/>
              </a:rPr>
              <a:t>UCCESS CRITERIA</a:t>
            </a:r>
            <a:r>
              <a:rPr b="1" i="0" lang="en-US" sz="2000" u="none" cap="none" strike="noStrike">
                <a:solidFill>
                  <a:schemeClr val="dk1"/>
                </a:solidFill>
                <a:latin typeface="Calibri"/>
                <a:ea typeface="Calibri"/>
                <a:cs typeface="Calibri"/>
                <a:sym typeface="Calibri"/>
              </a:rPr>
              <a:t> (Derek)</a:t>
            </a:r>
            <a:endParaRPr b="1" i="0" sz="2000" u="none" cap="none" strike="noStrike">
              <a:solidFill>
                <a:schemeClr val="dk1"/>
              </a:solidFill>
              <a:latin typeface="Calibri"/>
              <a:ea typeface="Calibri"/>
              <a:cs typeface="Calibri"/>
              <a:sym typeface="Calibri"/>
            </a:endParaRPr>
          </a:p>
        </p:txBody>
      </p:sp>
      <p:sp>
        <p:nvSpPr>
          <p:cNvPr id="142" name="Google Shape;142;g3d712f1194d_2_1"/>
          <p:cNvSpPr/>
          <p:nvPr/>
        </p:nvSpPr>
        <p:spPr>
          <a:xfrm>
            <a:off x="6355080" y="1463040"/>
            <a:ext cx="5029200" cy="1097400"/>
          </a:xfrm>
          <a:prstGeom prst="rect">
            <a:avLst/>
          </a:prstGeom>
          <a:solidFill>
            <a:srgbClr val="4E6E81">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solidFill>
                <a:schemeClr val="dk1"/>
              </a:solidFill>
            </a:endParaRPr>
          </a:p>
        </p:txBody>
      </p:sp>
      <p:sp>
        <p:nvSpPr>
          <p:cNvPr id="143" name="Google Shape;143;g3d712f1194d_2_1"/>
          <p:cNvSpPr/>
          <p:nvPr/>
        </p:nvSpPr>
        <p:spPr>
          <a:xfrm>
            <a:off x="6583680" y="1600200"/>
            <a:ext cx="640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8DAE"/>
              </a:buClr>
              <a:buSzPts val="3200"/>
              <a:buFont typeface="Calibri"/>
              <a:buNone/>
            </a:pPr>
            <a:r>
              <a:rPr b="1" i="0" lang="en-US" sz="3700" u="none" cap="none" strike="noStrike">
                <a:solidFill>
                  <a:srgbClr val="3D8DAE"/>
                </a:solidFill>
                <a:latin typeface="Calibri"/>
                <a:ea typeface="Calibri"/>
                <a:cs typeface="Calibri"/>
                <a:sym typeface="Calibri"/>
              </a:rPr>
              <a:t>02</a:t>
            </a:r>
            <a:endParaRPr b="0" i="0" sz="3700" u="none" cap="none" strike="noStrike">
              <a:solidFill>
                <a:srgbClr val="3D8DAE"/>
              </a:solidFill>
              <a:latin typeface="Calibri"/>
              <a:ea typeface="Calibri"/>
              <a:cs typeface="Calibri"/>
              <a:sym typeface="Calibri"/>
            </a:endParaRPr>
          </a:p>
        </p:txBody>
      </p:sp>
      <p:sp>
        <p:nvSpPr>
          <p:cNvPr id="144" name="Google Shape;144;g3d712f1194d_2_1"/>
          <p:cNvSpPr/>
          <p:nvPr/>
        </p:nvSpPr>
        <p:spPr>
          <a:xfrm>
            <a:off x="7360920" y="1463040"/>
            <a:ext cx="3840600" cy="1097400"/>
          </a:xfrm>
          <a:prstGeom prst="rect">
            <a:avLst/>
          </a:prstGeom>
          <a:noFill/>
          <a:ln>
            <a:noFill/>
          </a:ln>
        </p:spPr>
        <p:txBody>
          <a:bodyPr anchorCtr="0" anchor="ctr" bIns="0" lIns="0" spcFirstLastPara="1" rIns="0" wrap="square" tIns="0">
            <a:noAutofit/>
          </a:bodyPr>
          <a:lstStyle/>
          <a:p>
            <a:pPr indent="0" lvl="0" marL="0" rtl="0" algn="l">
              <a:lnSpc>
                <a:spcPct val="140017"/>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SOLUTION DELIVERY &amp; IMPLEMENTATION (Ishan)</a:t>
            </a:r>
            <a:endParaRPr b="1" sz="2000">
              <a:solidFill>
                <a:schemeClr val="dk1"/>
              </a:solidFill>
              <a:latin typeface="Calibri"/>
              <a:ea typeface="Calibri"/>
              <a:cs typeface="Calibri"/>
              <a:sym typeface="Calibri"/>
            </a:endParaRPr>
          </a:p>
        </p:txBody>
      </p:sp>
      <p:sp>
        <p:nvSpPr>
          <p:cNvPr id="145" name="Google Shape;145;g3d712f1194d_2_1"/>
          <p:cNvSpPr/>
          <p:nvPr/>
        </p:nvSpPr>
        <p:spPr>
          <a:xfrm>
            <a:off x="777240" y="2788920"/>
            <a:ext cx="5029200" cy="1097400"/>
          </a:xfrm>
          <a:prstGeom prst="rect">
            <a:avLst/>
          </a:prstGeom>
          <a:solidFill>
            <a:srgbClr val="4E6E81">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solidFill>
                <a:schemeClr val="dk1"/>
              </a:solidFill>
            </a:endParaRPr>
          </a:p>
        </p:txBody>
      </p:sp>
      <p:sp>
        <p:nvSpPr>
          <p:cNvPr id="146" name="Google Shape;146;g3d712f1194d_2_1"/>
          <p:cNvSpPr/>
          <p:nvPr/>
        </p:nvSpPr>
        <p:spPr>
          <a:xfrm>
            <a:off x="1005840" y="2926080"/>
            <a:ext cx="640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8DAE"/>
              </a:buClr>
              <a:buSzPts val="3200"/>
              <a:buFont typeface="Calibri"/>
              <a:buNone/>
            </a:pPr>
            <a:r>
              <a:rPr b="1" i="0" lang="en-US" sz="3700" u="none" cap="none" strike="noStrike">
                <a:solidFill>
                  <a:srgbClr val="3D8DAE"/>
                </a:solidFill>
                <a:latin typeface="Calibri"/>
                <a:ea typeface="Calibri"/>
                <a:cs typeface="Calibri"/>
                <a:sym typeface="Calibri"/>
              </a:rPr>
              <a:t>03</a:t>
            </a:r>
            <a:endParaRPr b="0" i="0" sz="3700" u="none" cap="none" strike="noStrike">
              <a:solidFill>
                <a:srgbClr val="3D8DAE"/>
              </a:solidFill>
              <a:latin typeface="Calibri"/>
              <a:ea typeface="Calibri"/>
              <a:cs typeface="Calibri"/>
              <a:sym typeface="Calibri"/>
            </a:endParaRPr>
          </a:p>
        </p:txBody>
      </p:sp>
      <p:sp>
        <p:nvSpPr>
          <p:cNvPr id="147" name="Google Shape;147;g3d712f1194d_2_1"/>
          <p:cNvSpPr/>
          <p:nvPr/>
        </p:nvSpPr>
        <p:spPr>
          <a:xfrm>
            <a:off x="1783080" y="2788920"/>
            <a:ext cx="3840600" cy="1097400"/>
          </a:xfrm>
          <a:prstGeom prst="rect">
            <a:avLst/>
          </a:prstGeom>
          <a:noFill/>
          <a:ln>
            <a:noFill/>
          </a:ln>
        </p:spPr>
        <p:txBody>
          <a:bodyPr anchorCtr="0" anchor="ctr" bIns="0" lIns="0" spcFirstLastPara="1" rIns="0" wrap="square" tIns="0">
            <a:noAutofit/>
          </a:bodyPr>
          <a:lstStyle/>
          <a:p>
            <a:pPr indent="0" lvl="0" marL="0" rtl="0" algn="l">
              <a:lnSpc>
                <a:spcPct val="140017"/>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LIVE DEMONSTRATION (Nikki)</a:t>
            </a:r>
            <a:endParaRPr sz="2000">
              <a:solidFill>
                <a:schemeClr val="dk1"/>
              </a:solidFill>
              <a:latin typeface="Calibri"/>
              <a:ea typeface="Calibri"/>
              <a:cs typeface="Calibri"/>
              <a:sym typeface="Calibri"/>
            </a:endParaRPr>
          </a:p>
        </p:txBody>
      </p:sp>
      <p:sp>
        <p:nvSpPr>
          <p:cNvPr id="148" name="Google Shape;148;g3d712f1194d_2_1"/>
          <p:cNvSpPr/>
          <p:nvPr/>
        </p:nvSpPr>
        <p:spPr>
          <a:xfrm>
            <a:off x="6355080" y="2788920"/>
            <a:ext cx="5029200" cy="1097400"/>
          </a:xfrm>
          <a:prstGeom prst="rect">
            <a:avLst/>
          </a:prstGeom>
          <a:solidFill>
            <a:srgbClr val="4E6E81">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solidFill>
                <a:schemeClr val="dk1"/>
              </a:solidFill>
            </a:endParaRPr>
          </a:p>
        </p:txBody>
      </p:sp>
      <p:sp>
        <p:nvSpPr>
          <p:cNvPr id="149" name="Google Shape;149;g3d712f1194d_2_1"/>
          <p:cNvSpPr/>
          <p:nvPr/>
        </p:nvSpPr>
        <p:spPr>
          <a:xfrm>
            <a:off x="6583680" y="2926080"/>
            <a:ext cx="640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8DAE"/>
              </a:buClr>
              <a:buSzPts val="3200"/>
              <a:buFont typeface="Calibri"/>
              <a:buNone/>
            </a:pPr>
            <a:r>
              <a:rPr b="1" i="0" lang="en-US" sz="3700" u="none" cap="none" strike="noStrike">
                <a:solidFill>
                  <a:srgbClr val="3D8DAE"/>
                </a:solidFill>
                <a:latin typeface="Calibri"/>
                <a:ea typeface="Calibri"/>
                <a:cs typeface="Calibri"/>
                <a:sym typeface="Calibri"/>
              </a:rPr>
              <a:t>04</a:t>
            </a:r>
            <a:endParaRPr b="0" i="0" sz="3700" u="none" cap="none" strike="noStrike">
              <a:solidFill>
                <a:srgbClr val="3D8DAE"/>
              </a:solidFill>
              <a:latin typeface="Calibri"/>
              <a:ea typeface="Calibri"/>
              <a:cs typeface="Calibri"/>
              <a:sym typeface="Calibri"/>
            </a:endParaRPr>
          </a:p>
        </p:txBody>
      </p:sp>
      <p:sp>
        <p:nvSpPr>
          <p:cNvPr id="150" name="Google Shape;150;g3d712f1194d_2_1"/>
          <p:cNvSpPr/>
          <p:nvPr/>
        </p:nvSpPr>
        <p:spPr>
          <a:xfrm>
            <a:off x="7360920" y="2788920"/>
            <a:ext cx="3840600" cy="1097400"/>
          </a:xfrm>
          <a:prstGeom prst="rect">
            <a:avLst/>
          </a:prstGeom>
          <a:noFill/>
          <a:ln>
            <a:noFill/>
          </a:ln>
        </p:spPr>
        <p:txBody>
          <a:bodyPr anchorCtr="0" anchor="ctr" bIns="0" lIns="0" spcFirstLastPara="1" rIns="0" wrap="square" tIns="0">
            <a:noAutofit/>
          </a:bodyPr>
          <a:lstStyle/>
          <a:p>
            <a:pPr indent="0" lvl="0" marL="0" rtl="0" algn="l">
              <a:lnSpc>
                <a:spcPct val="140017"/>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R</a:t>
            </a:r>
            <a:r>
              <a:rPr b="1" lang="en-US" sz="2000">
                <a:solidFill>
                  <a:schemeClr val="dk1"/>
                </a:solidFill>
                <a:latin typeface="Calibri"/>
                <a:ea typeface="Calibri"/>
                <a:cs typeface="Calibri"/>
                <a:sym typeface="Calibri"/>
              </a:rPr>
              <a:t>ESULTS &amp; IMPACT (Shah)</a:t>
            </a:r>
            <a:endParaRPr b="1" sz="2000">
              <a:solidFill>
                <a:schemeClr val="dk1"/>
              </a:solidFill>
              <a:latin typeface="Calibri"/>
              <a:ea typeface="Calibri"/>
              <a:cs typeface="Calibri"/>
              <a:sym typeface="Calibri"/>
            </a:endParaRPr>
          </a:p>
        </p:txBody>
      </p:sp>
      <p:sp>
        <p:nvSpPr>
          <p:cNvPr id="151" name="Google Shape;151;g3d712f1194d_2_1"/>
          <p:cNvSpPr/>
          <p:nvPr/>
        </p:nvSpPr>
        <p:spPr>
          <a:xfrm>
            <a:off x="777240" y="4114800"/>
            <a:ext cx="5029200" cy="1097400"/>
          </a:xfrm>
          <a:prstGeom prst="rect">
            <a:avLst/>
          </a:prstGeom>
          <a:solidFill>
            <a:srgbClr val="4E6E81">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solidFill>
                <a:schemeClr val="dk1"/>
              </a:solidFill>
            </a:endParaRPr>
          </a:p>
        </p:txBody>
      </p:sp>
      <p:sp>
        <p:nvSpPr>
          <p:cNvPr id="152" name="Google Shape;152;g3d712f1194d_2_1"/>
          <p:cNvSpPr/>
          <p:nvPr/>
        </p:nvSpPr>
        <p:spPr>
          <a:xfrm>
            <a:off x="1005840" y="4251960"/>
            <a:ext cx="640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8DAE"/>
              </a:buClr>
              <a:buSzPts val="3200"/>
              <a:buFont typeface="Calibri"/>
              <a:buNone/>
            </a:pPr>
            <a:r>
              <a:rPr b="1" i="0" lang="en-US" sz="3700" u="none" cap="none" strike="noStrike">
                <a:solidFill>
                  <a:srgbClr val="3D8DAE"/>
                </a:solidFill>
                <a:latin typeface="Calibri"/>
                <a:ea typeface="Calibri"/>
                <a:cs typeface="Calibri"/>
                <a:sym typeface="Calibri"/>
              </a:rPr>
              <a:t>05</a:t>
            </a:r>
            <a:endParaRPr b="0" i="0" sz="3700" u="none" cap="none" strike="noStrike">
              <a:solidFill>
                <a:srgbClr val="3D8DAE"/>
              </a:solidFill>
              <a:latin typeface="Calibri"/>
              <a:ea typeface="Calibri"/>
              <a:cs typeface="Calibri"/>
              <a:sym typeface="Calibri"/>
            </a:endParaRPr>
          </a:p>
        </p:txBody>
      </p:sp>
      <p:sp>
        <p:nvSpPr>
          <p:cNvPr id="153" name="Google Shape;153;g3d712f1194d_2_1"/>
          <p:cNvSpPr/>
          <p:nvPr/>
        </p:nvSpPr>
        <p:spPr>
          <a:xfrm>
            <a:off x="1783080" y="4114800"/>
            <a:ext cx="3840600" cy="1097400"/>
          </a:xfrm>
          <a:prstGeom prst="rect">
            <a:avLst/>
          </a:prstGeom>
          <a:noFill/>
          <a:ln>
            <a:noFill/>
          </a:ln>
        </p:spPr>
        <p:txBody>
          <a:bodyPr anchorCtr="0" anchor="ctr" bIns="0" lIns="0" spcFirstLastPara="1" rIns="0" wrap="square" tIns="0">
            <a:noAutofit/>
          </a:bodyPr>
          <a:lstStyle/>
          <a:p>
            <a:pPr indent="0" lvl="0" marL="0" rtl="0" algn="l">
              <a:lnSpc>
                <a:spcPct val="140017"/>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FUTURE ROADMAP &amp; HANDOFF</a:t>
            </a:r>
            <a:r>
              <a:rPr b="1" lang="en-US" sz="2000">
                <a:solidFill>
                  <a:schemeClr val="dk1"/>
                </a:solidFill>
                <a:latin typeface="Calibri"/>
                <a:ea typeface="Calibri"/>
                <a:cs typeface="Calibri"/>
                <a:sym typeface="Calibri"/>
              </a:rPr>
              <a:t> (Shah)</a:t>
            </a:r>
            <a:endParaRPr b="1" sz="2000">
              <a:solidFill>
                <a:schemeClr val="dk1"/>
              </a:solidFill>
              <a:latin typeface="Calibri"/>
              <a:ea typeface="Calibri"/>
              <a:cs typeface="Calibri"/>
              <a:sym typeface="Calibri"/>
            </a:endParaRPr>
          </a:p>
        </p:txBody>
      </p:sp>
      <p:sp>
        <p:nvSpPr>
          <p:cNvPr id="154" name="Google Shape;154;g3d712f1194d_2_1"/>
          <p:cNvSpPr/>
          <p:nvPr/>
        </p:nvSpPr>
        <p:spPr>
          <a:xfrm>
            <a:off x="6355080" y="4114800"/>
            <a:ext cx="5029200" cy="1097400"/>
          </a:xfrm>
          <a:prstGeom prst="rect">
            <a:avLst/>
          </a:prstGeom>
          <a:solidFill>
            <a:srgbClr val="4E6E81">
              <a:alpha val="250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solidFill>
                <a:schemeClr val="dk1"/>
              </a:solidFill>
            </a:endParaRPr>
          </a:p>
        </p:txBody>
      </p:sp>
      <p:sp>
        <p:nvSpPr>
          <p:cNvPr id="155" name="Google Shape;155;g3d712f1194d_2_1"/>
          <p:cNvSpPr/>
          <p:nvPr/>
        </p:nvSpPr>
        <p:spPr>
          <a:xfrm>
            <a:off x="6583680" y="4251960"/>
            <a:ext cx="640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8DAE"/>
              </a:buClr>
              <a:buSzPts val="3200"/>
              <a:buFont typeface="Calibri"/>
              <a:buNone/>
            </a:pPr>
            <a:r>
              <a:rPr b="1" i="0" lang="en-US" sz="3700" u="none" cap="none" strike="noStrike">
                <a:solidFill>
                  <a:srgbClr val="3D8DAE"/>
                </a:solidFill>
                <a:latin typeface="Calibri"/>
                <a:ea typeface="Calibri"/>
                <a:cs typeface="Calibri"/>
                <a:sym typeface="Calibri"/>
              </a:rPr>
              <a:t>06</a:t>
            </a:r>
            <a:endParaRPr b="0" i="0" sz="3700" u="none" cap="none" strike="noStrike">
              <a:solidFill>
                <a:srgbClr val="3D8DAE"/>
              </a:solidFill>
              <a:latin typeface="Calibri"/>
              <a:ea typeface="Calibri"/>
              <a:cs typeface="Calibri"/>
              <a:sym typeface="Calibri"/>
            </a:endParaRPr>
          </a:p>
        </p:txBody>
      </p:sp>
      <p:sp>
        <p:nvSpPr>
          <p:cNvPr id="156" name="Google Shape;156;g3d712f1194d_2_1"/>
          <p:cNvSpPr/>
          <p:nvPr/>
        </p:nvSpPr>
        <p:spPr>
          <a:xfrm>
            <a:off x="7360920" y="4114800"/>
            <a:ext cx="3840600" cy="1097400"/>
          </a:xfrm>
          <a:prstGeom prst="rect">
            <a:avLst/>
          </a:prstGeom>
          <a:noFill/>
          <a:ln>
            <a:noFill/>
          </a:ln>
        </p:spPr>
        <p:txBody>
          <a:bodyPr anchorCtr="0" anchor="ctr" bIns="0" lIns="0" spcFirstLastPara="1" rIns="0" wrap="square" tIns="0">
            <a:noAutofit/>
          </a:bodyPr>
          <a:lstStyle/>
          <a:p>
            <a:pPr indent="0" lvl="0" marL="0" rtl="0" algn="l">
              <a:lnSpc>
                <a:spcPct val="140017"/>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Q&amp;A (Derek)</a:t>
            </a:r>
            <a:r>
              <a:rPr lang="en-US" sz="2000">
                <a:solidFill>
                  <a:schemeClr val="dk1"/>
                </a:solidFill>
                <a:latin typeface="Calibri"/>
                <a:ea typeface="Calibri"/>
                <a:cs typeface="Calibri"/>
                <a:sym typeface="Calibri"/>
              </a:rPr>
              <a:t> </a:t>
            </a:r>
            <a:endParaRPr b="1" sz="2000">
              <a:solidFill>
                <a:schemeClr val="dk1"/>
              </a:solidFill>
              <a:latin typeface="Calibri"/>
              <a:ea typeface="Calibri"/>
              <a:cs typeface="Calibri"/>
              <a:sym typeface="Calibri"/>
            </a:endParaRPr>
          </a:p>
        </p:txBody>
      </p:sp>
      <p:sp>
        <p:nvSpPr>
          <p:cNvPr id="157" name="Google Shape;157;g3d712f1194d_2_1"/>
          <p:cNvSpPr/>
          <p:nvPr/>
        </p:nvSpPr>
        <p:spPr>
          <a:xfrm>
            <a:off x="10789920" y="6446520"/>
            <a:ext cx="1097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900"/>
              <a:buFont typeface="Calibri"/>
              <a:buNone/>
            </a:pPr>
            <a:r>
              <a:rPr b="0" i="0" lang="en-US" u="none" cap="none" strike="noStrike">
                <a:solidFill>
                  <a:srgbClr val="9CA3AF"/>
                </a:solidFill>
                <a:latin typeface="Calibri"/>
                <a:ea typeface="Calibri"/>
                <a:cs typeface="Calibri"/>
                <a:sym typeface="Calibri"/>
              </a:rPr>
              <a:t>3 / 10</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62" name="Shape 162"/>
        <p:cNvGrpSpPr/>
        <p:nvPr/>
      </p:nvGrpSpPr>
      <p:grpSpPr>
        <a:xfrm>
          <a:off x="0" y="0"/>
          <a:ext cx="0" cy="0"/>
          <a:chOff x="0" y="0"/>
          <a:chExt cx="0" cy="0"/>
        </a:xfrm>
      </p:grpSpPr>
      <p:sp>
        <p:nvSpPr>
          <p:cNvPr id="163" name="Google Shape;163;p4"/>
          <p:cNvSpPr/>
          <p:nvPr/>
        </p:nvSpPr>
        <p:spPr>
          <a:xfrm>
            <a:off x="0" y="0"/>
            <a:ext cx="12161520" cy="54864"/>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4" name="Google Shape;164;p4"/>
          <p:cNvPicPr preferRelativeResize="0"/>
          <p:nvPr/>
        </p:nvPicPr>
        <p:blipFill rotWithShape="1">
          <a:blip r:embed="rId3">
            <a:alphaModFix/>
          </a:blip>
          <a:srcRect b="0" l="0" r="0" t="0"/>
          <a:stretch/>
        </p:blipFill>
        <p:spPr>
          <a:xfrm>
            <a:off x="11247120" y="182880"/>
            <a:ext cx="594360" cy="594360"/>
          </a:xfrm>
          <a:prstGeom prst="rect">
            <a:avLst/>
          </a:prstGeom>
          <a:noFill/>
          <a:ln>
            <a:noFill/>
          </a:ln>
        </p:spPr>
      </p:pic>
      <p:sp>
        <p:nvSpPr>
          <p:cNvPr id="165" name="Google Shape;165;p4"/>
          <p:cNvSpPr/>
          <p:nvPr/>
        </p:nvSpPr>
        <p:spPr>
          <a:xfrm>
            <a:off x="10789920" y="6446520"/>
            <a:ext cx="109728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4 / 10</a:t>
            </a:r>
            <a:endParaRPr b="0" i="0" sz="900" u="none" cap="none" strike="noStrike">
              <a:solidFill>
                <a:schemeClr val="dk1"/>
              </a:solidFill>
              <a:latin typeface="Calibri"/>
              <a:ea typeface="Calibri"/>
              <a:cs typeface="Calibri"/>
              <a:sym typeface="Calibri"/>
            </a:endParaRPr>
          </a:p>
        </p:txBody>
      </p:sp>
      <p:sp>
        <p:nvSpPr>
          <p:cNvPr id="166" name="Google Shape;166;p4"/>
          <p:cNvSpPr/>
          <p:nvPr/>
        </p:nvSpPr>
        <p:spPr>
          <a:xfrm>
            <a:off x="548640" y="274320"/>
            <a:ext cx="91440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3000"/>
              <a:buFont typeface="Calibri"/>
              <a:buNone/>
            </a:pPr>
            <a:r>
              <a:rPr b="1" lang="en-US" sz="3200">
                <a:solidFill>
                  <a:srgbClr val="1A1A2E"/>
                </a:solidFill>
                <a:latin typeface="Calibri"/>
                <a:ea typeface="Calibri"/>
                <a:cs typeface="Calibri"/>
                <a:sym typeface="Calibri"/>
              </a:rPr>
              <a:t>Project Context</a:t>
            </a:r>
            <a:endParaRPr b="0" i="0" sz="3200" u="none" cap="none" strike="noStrike">
              <a:solidFill>
                <a:schemeClr val="dk1"/>
              </a:solidFill>
              <a:latin typeface="Calibri"/>
              <a:ea typeface="Calibri"/>
              <a:cs typeface="Calibri"/>
              <a:sym typeface="Calibri"/>
            </a:endParaRPr>
          </a:p>
        </p:txBody>
      </p:sp>
      <p:grpSp>
        <p:nvGrpSpPr>
          <p:cNvPr id="167" name="Google Shape;167;p4"/>
          <p:cNvGrpSpPr/>
          <p:nvPr/>
        </p:nvGrpSpPr>
        <p:grpSpPr>
          <a:xfrm>
            <a:off x="9144000" y="2208308"/>
            <a:ext cx="3047924" cy="4649563"/>
            <a:chOff x="0" y="2295575"/>
            <a:chExt cx="2286000" cy="2847950"/>
          </a:xfrm>
        </p:grpSpPr>
        <p:grpSp>
          <p:nvGrpSpPr>
            <p:cNvPr id="168" name="Google Shape;168;p4"/>
            <p:cNvGrpSpPr/>
            <p:nvPr/>
          </p:nvGrpSpPr>
          <p:grpSpPr>
            <a:xfrm>
              <a:off x="0" y="2295575"/>
              <a:ext cx="2286000" cy="2847950"/>
              <a:chOff x="0" y="2295575"/>
              <a:chExt cx="2286000" cy="2847950"/>
            </a:xfrm>
          </p:grpSpPr>
          <p:sp>
            <p:nvSpPr>
              <p:cNvPr id="169" name="Google Shape;169;p4"/>
              <p:cNvSpPr/>
              <p:nvPr/>
            </p:nvSpPr>
            <p:spPr>
              <a:xfrm>
                <a:off x="0" y="2823925"/>
                <a:ext cx="22860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 name="Google Shape;170;p4"/>
              <p:cNvSpPr/>
              <p:nvPr/>
            </p:nvSpPr>
            <p:spPr>
              <a:xfrm>
                <a:off x="0" y="2295575"/>
                <a:ext cx="2286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71" name="Google Shape;171;p4"/>
            <p:cNvSpPr txBox="1"/>
            <p:nvPr/>
          </p:nvSpPr>
          <p:spPr>
            <a:xfrm>
              <a:off x="216291" y="2441107"/>
              <a:ext cx="871200" cy="260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t/>
              </a:r>
              <a:endParaRPr sz="1300">
                <a:solidFill>
                  <a:srgbClr val="5E5E5E"/>
                </a:solidFill>
                <a:latin typeface="Roboto"/>
                <a:ea typeface="Roboto"/>
                <a:cs typeface="Roboto"/>
                <a:sym typeface="Roboto"/>
              </a:endParaRPr>
            </a:p>
          </p:txBody>
        </p:sp>
        <p:sp>
          <p:nvSpPr>
            <p:cNvPr id="172" name="Google Shape;172;p4"/>
            <p:cNvSpPr txBox="1"/>
            <p:nvPr/>
          </p:nvSpPr>
          <p:spPr>
            <a:xfrm>
              <a:off x="216300" y="3050050"/>
              <a:ext cx="1853400" cy="797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5E5E5E"/>
                  </a:solidFill>
                  <a:latin typeface="Roboto"/>
                  <a:ea typeface="Roboto"/>
                  <a:cs typeface="Roboto"/>
                  <a:sym typeface="Roboto"/>
                </a:rPr>
                <a:t>Expected Impact</a:t>
              </a:r>
              <a:endParaRPr b="1" sz="1600">
                <a:solidFill>
                  <a:srgbClr val="5E5E5E"/>
                </a:solidFill>
                <a:latin typeface="Roboto"/>
                <a:ea typeface="Roboto"/>
                <a:cs typeface="Roboto"/>
                <a:sym typeface="Roboto"/>
              </a:endParaRPr>
            </a:p>
          </p:txBody>
        </p:sp>
        <p:sp>
          <p:nvSpPr>
            <p:cNvPr id="173" name="Google Shape;173;p4"/>
            <p:cNvSpPr txBox="1"/>
            <p:nvPr/>
          </p:nvSpPr>
          <p:spPr>
            <a:xfrm>
              <a:off x="216300" y="3896950"/>
              <a:ext cx="1853400" cy="9960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lang="en-US" sz="1200">
                  <a:solidFill>
                    <a:srgbClr val="5E5E5E"/>
                  </a:solidFill>
                  <a:latin typeface="Roboto"/>
                  <a:ea typeface="Roboto"/>
                  <a:cs typeface="Roboto"/>
                  <a:sym typeface="Roboto"/>
                </a:rPr>
                <a:t>A credible digital front door that builds trust, guides visitors to Contact, and supports future SEO and lead-capture growth.</a:t>
              </a:r>
              <a:endParaRPr sz="1200">
                <a:solidFill>
                  <a:schemeClr val="lt1"/>
                </a:solidFill>
                <a:latin typeface="Roboto"/>
                <a:ea typeface="Roboto"/>
                <a:cs typeface="Roboto"/>
                <a:sym typeface="Roboto"/>
              </a:endParaRPr>
            </a:p>
            <a:p>
              <a:pPr indent="0" lvl="0" marL="0" rtl="0" algn="l">
                <a:lnSpc>
                  <a:spcPct val="115000"/>
                </a:lnSpc>
                <a:spcBef>
                  <a:spcPts val="2100"/>
                </a:spcBef>
                <a:spcAft>
                  <a:spcPts val="2100"/>
                </a:spcAft>
                <a:buNone/>
              </a:pPr>
              <a:r>
                <a:t/>
              </a:r>
              <a:endParaRPr sz="1200">
                <a:solidFill>
                  <a:srgbClr val="5E5E5E"/>
                </a:solidFill>
                <a:latin typeface="Roboto"/>
                <a:ea typeface="Roboto"/>
                <a:cs typeface="Roboto"/>
                <a:sym typeface="Roboto"/>
              </a:endParaRPr>
            </a:p>
          </p:txBody>
        </p:sp>
      </p:grpSp>
      <p:grpSp>
        <p:nvGrpSpPr>
          <p:cNvPr id="174" name="Google Shape;174;p4"/>
          <p:cNvGrpSpPr/>
          <p:nvPr/>
        </p:nvGrpSpPr>
        <p:grpSpPr>
          <a:xfrm>
            <a:off x="3047925" y="2208308"/>
            <a:ext cx="3047924" cy="4649563"/>
            <a:chOff x="0" y="2295575"/>
            <a:chExt cx="2286000" cy="2847950"/>
          </a:xfrm>
        </p:grpSpPr>
        <p:grpSp>
          <p:nvGrpSpPr>
            <p:cNvPr id="175" name="Google Shape;175;p4"/>
            <p:cNvGrpSpPr/>
            <p:nvPr/>
          </p:nvGrpSpPr>
          <p:grpSpPr>
            <a:xfrm>
              <a:off x="0" y="2295575"/>
              <a:ext cx="2286000" cy="2847950"/>
              <a:chOff x="0" y="2295575"/>
              <a:chExt cx="2286000" cy="2847950"/>
            </a:xfrm>
          </p:grpSpPr>
          <p:sp>
            <p:nvSpPr>
              <p:cNvPr id="176" name="Google Shape;176;p4"/>
              <p:cNvSpPr/>
              <p:nvPr/>
            </p:nvSpPr>
            <p:spPr>
              <a:xfrm>
                <a:off x="0" y="2823925"/>
                <a:ext cx="22860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 name="Google Shape;177;p4"/>
              <p:cNvSpPr/>
              <p:nvPr/>
            </p:nvSpPr>
            <p:spPr>
              <a:xfrm>
                <a:off x="0" y="2295575"/>
                <a:ext cx="2286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78" name="Google Shape;178;p4"/>
            <p:cNvSpPr txBox="1"/>
            <p:nvPr/>
          </p:nvSpPr>
          <p:spPr>
            <a:xfrm>
              <a:off x="216291" y="2441107"/>
              <a:ext cx="871200" cy="260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t/>
              </a:r>
              <a:endParaRPr sz="1300">
                <a:solidFill>
                  <a:srgbClr val="5E5E5E"/>
                </a:solidFill>
                <a:latin typeface="Roboto"/>
                <a:ea typeface="Roboto"/>
                <a:cs typeface="Roboto"/>
                <a:sym typeface="Roboto"/>
              </a:endParaRPr>
            </a:p>
          </p:txBody>
        </p:sp>
        <p:sp>
          <p:nvSpPr>
            <p:cNvPr id="179" name="Google Shape;179;p4"/>
            <p:cNvSpPr txBox="1"/>
            <p:nvPr/>
          </p:nvSpPr>
          <p:spPr>
            <a:xfrm>
              <a:off x="216300" y="3050050"/>
              <a:ext cx="1853400" cy="797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5E5E5E"/>
                  </a:solidFill>
                  <a:latin typeface="Roboto"/>
                  <a:ea typeface="Roboto"/>
                  <a:cs typeface="Roboto"/>
                  <a:sym typeface="Roboto"/>
                </a:rPr>
                <a:t>Goal</a:t>
              </a:r>
              <a:endParaRPr b="1" sz="1600">
                <a:solidFill>
                  <a:srgbClr val="5E5E5E"/>
                </a:solidFill>
                <a:latin typeface="Roboto"/>
                <a:ea typeface="Roboto"/>
                <a:cs typeface="Roboto"/>
                <a:sym typeface="Roboto"/>
              </a:endParaRPr>
            </a:p>
          </p:txBody>
        </p:sp>
        <p:sp>
          <p:nvSpPr>
            <p:cNvPr id="180" name="Google Shape;180;p4"/>
            <p:cNvSpPr txBox="1"/>
            <p:nvPr/>
          </p:nvSpPr>
          <p:spPr>
            <a:xfrm>
              <a:off x="216300" y="3896950"/>
              <a:ext cx="1853400" cy="9960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200">
                  <a:solidFill>
                    <a:srgbClr val="5E5E5E"/>
                  </a:solidFill>
                  <a:latin typeface="Roboto"/>
                  <a:ea typeface="Roboto"/>
                  <a:cs typeface="Roboto"/>
                  <a:sym typeface="Roboto"/>
                </a:rPr>
                <a:t>Design and deliver a responsive, professional prototype website that clearly presents EVA’s services and positions the brand for long-term growth.</a:t>
              </a:r>
              <a:endParaRPr sz="1200">
                <a:solidFill>
                  <a:srgbClr val="5E5E5E"/>
                </a:solidFill>
                <a:latin typeface="Roboto"/>
                <a:ea typeface="Roboto"/>
                <a:cs typeface="Roboto"/>
                <a:sym typeface="Roboto"/>
              </a:endParaRPr>
            </a:p>
          </p:txBody>
        </p:sp>
        <p:cxnSp>
          <p:nvCxnSpPr>
            <p:cNvPr id="181" name="Google Shape;181;p4"/>
            <p:cNvCxnSpPr/>
            <p:nvPr/>
          </p:nvCxnSpPr>
          <p:spPr>
            <a:xfrm>
              <a:off x="2286000" y="2295575"/>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182" name="Google Shape;182;p4"/>
          <p:cNvGrpSpPr/>
          <p:nvPr/>
        </p:nvGrpSpPr>
        <p:grpSpPr>
          <a:xfrm>
            <a:off x="6095850" y="2208308"/>
            <a:ext cx="3047924" cy="4649563"/>
            <a:chOff x="0" y="2295575"/>
            <a:chExt cx="2286000" cy="2847950"/>
          </a:xfrm>
        </p:grpSpPr>
        <p:grpSp>
          <p:nvGrpSpPr>
            <p:cNvPr id="183" name="Google Shape;183;p4"/>
            <p:cNvGrpSpPr/>
            <p:nvPr/>
          </p:nvGrpSpPr>
          <p:grpSpPr>
            <a:xfrm>
              <a:off x="0" y="2295575"/>
              <a:ext cx="2286000" cy="2847950"/>
              <a:chOff x="0" y="2295575"/>
              <a:chExt cx="2286000" cy="2847950"/>
            </a:xfrm>
          </p:grpSpPr>
          <p:sp>
            <p:nvSpPr>
              <p:cNvPr id="184" name="Google Shape;184;p4"/>
              <p:cNvSpPr/>
              <p:nvPr/>
            </p:nvSpPr>
            <p:spPr>
              <a:xfrm>
                <a:off x="0" y="2823925"/>
                <a:ext cx="2286000" cy="2319600"/>
              </a:xfrm>
              <a:prstGeom prst="rect">
                <a:avLst/>
              </a:prstGeom>
              <a:solidFill>
                <a:srgbClr val="0069AB"/>
              </a:solidFill>
              <a:ln cap="flat" cmpd="sng" w="9525">
                <a:solidFill>
                  <a:srgbClr val="0069A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5" name="Google Shape;185;p4"/>
              <p:cNvSpPr/>
              <p:nvPr/>
            </p:nvSpPr>
            <p:spPr>
              <a:xfrm>
                <a:off x="0" y="2295575"/>
                <a:ext cx="2286000" cy="53700"/>
              </a:xfrm>
              <a:prstGeom prst="rect">
                <a:avLst/>
              </a:prstGeom>
              <a:solidFill>
                <a:srgbClr val="0069AB"/>
              </a:solidFill>
              <a:ln cap="flat" cmpd="sng" w="9525">
                <a:solidFill>
                  <a:srgbClr val="0069A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86" name="Google Shape;186;p4"/>
            <p:cNvSpPr txBox="1"/>
            <p:nvPr/>
          </p:nvSpPr>
          <p:spPr>
            <a:xfrm>
              <a:off x="216300" y="3050050"/>
              <a:ext cx="1853400" cy="797700"/>
            </a:xfrm>
            <a:prstGeom prst="rect">
              <a:avLst/>
            </a:prstGeom>
            <a:noFill/>
            <a:ln cap="flat" cmpd="sng" w="9525">
              <a:solidFill>
                <a:srgbClr val="0069AB"/>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FFFFFF"/>
                  </a:solidFill>
                  <a:latin typeface="Roboto"/>
                  <a:ea typeface="Roboto"/>
                  <a:cs typeface="Roboto"/>
                  <a:sym typeface="Roboto"/>
                </a:rPr>
                <a:t>Our Approach</a:t>
              </a:r>
              <a:endParaRPr b="1" sz="1600">
                <a:solidFill>
                  <a:srgbClr val="FFFFFF"/>
                </a:solidFill>
                <a:latin typeface="Roboto"/>
                <a:ea typeface="Roboto"/>
                <a:cs typeface="Roboto"/>
                <a:sym typeface="Roboto"/>
              </a:endParaRPr>
            </a:p>
          </p:txBody>
        </p:sp>
        <p:sp>
          <p:nvSpPr>
            <p:cNvPr id="187" name="Google Shape;187;p4"/>
            <p:cNvSpPr txBox="1"/>
            <p:nvPr/>
          </p:nvSpPr>
          <p:spPr>
            <a:xfrm>
              <a:off x="216300" y="3896950"/>
              <a:ext cx="1853400" cy="996000"/>
            </a:xfrm>
            <a:prstGeom prst="rect">
              <a:avLst/>
            </a:prstGeom>
            <a:noFill/>
            <a:ln cap="flat" cmpd="sng" w="9525">
              <a:solidFill>
                <a:srgbClr val="0069AB"/>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lt1"/>
                  </a:solidFill>
                  <a:latin typeface="Roboto"/>
                  <a:ea typeface="Roboto"/>
                  <a:cs typeface="Roboto"/>
                  <a:sym typeface="Roboto"/>
                </a:rPr>
                <a:t>A React/Vite prototype refined iteratively with Troy and version-controlled on GitHub, built to hand off and evolve.</a:t>
              </a:r>
              <a:endParaRPr sz="1200">
                <a:solidFill>
                  <a:schemeClr val="lt1"/>
                </a:solidFill>
                <a:latin typeface="Roboto"/>
                <a:ea typeface="Roboto"/>
                <a:cs typeface="Roboto"/>
                <a:sym typeface="Roboto"/>
              </a:endParaRPr>
            </a:p>
            <a:p>
              <a:pPr indent="0" lvl="0" marL="0" rtl="0" algn="l">
                <a:lnSpc>
                  <a:spcPct val="115000"/>
                </a:lnSpc>
                <a:spcBef>
                  <a:spcPts val="2100"/>
                </a:spcBef>
                <a:spcAft>
                  <a:spcPts val="2100"/>
                </a:spcAft>
                <a:buNone/>
              </a:pPr>
              <a:r>
                <a:t/>
              </a:r>
              <a:endParaRPr sz="1200">
                <a:solidFill>
                  <a:srgbClr val="FFFFFF"/>
                </a:solidFill>
                <a:latin typeface="Roboto"/>
                <a:ea typeface="Roboto"/>
                <a:cs typeface="Roboto"/>
                <a:sym typeface="Roboto"/>
              </a:endParaRPr>
            </a:p>
          </p:txBody>
        </p:sp>
        <p:cxnSp>
          <p:nvCxnSpPr>
            <p:cNvPr id="188" name="Google Shape;188;p4"/>
            <p:cNvCxnSpPr/>
            <p:nvPr/>
          </p:nvCxnSpPr>
          <p:spPr>
            <a:xfrm>
              <a:off x="2286000" y="2295575"/>
              <a:ext cx="0" cy="2837400"/>
            </a:xfrm>
            <a:prstGeom prst="straightConnector1">
              <a:avLst/>
            </a:prstGeom>
            <a:noFill/>
            <a:ln cap="flat" cmpd="sng" w="9525">
              <a:solidFill>
                <a:srgbClr val="0069AB"/>
              </a:solidFill>
              <a:prstDash val="dot"/>
              <a:round/>
              <a:headEnd len="sm" w="sm" type="none"/>
              <a:tailEnd len="sm" w="sm" type="none"/>
            </a:ln>
          </p:spPr>
        </p:cxnSp>
      </p:grpSp>
      <p:grpSp>
        <p:nvGrpSpPr>
          <p:cNvPr id="189" name="Google Shape;189;p4"/>
          <p:cNvGrpSpPr/>
          <p:nvPr/>
        </p:nvGrpSpPr>
        <p:grpSpPr>
          <a:xfrm>
            <a:off x="0" y="2208306"/>
            <a:ext cx="3047924" cy="4649563"/>
            <a:chOff x="0" y="2295575"/>
            <a:chExt cx="2286000" cy="2847950"/>
          </a:xfrm>
        </p:grpSpPr>
        <p:grpSp>
          <p:nvGrpSpPr>
            <p:cNvPr id="190" name="Google Shape;190;p4"/>
            <p:cNvGrpSpPr/>
            <p:nvPr/>
          </p:nvGrpSpPr>
          <p:grpSpPr>
            <a:xfrm>
              <a:off x="0" y="2295575"/>
              <a:ext cx="2286000" cy="2847950"/>
              <a:chOff x="0" y="2295575"/>
              <a:chExt cx="2286000" cy="2847950"/>
            </a:xfrm>
          </p:grpSpPr>
          <p:sp>
            <p:nvSpPr>
              <p:cNvPr id="191" name="Google Shape;191;p4"/>
              <p:cNvSpPr/>
              <p:nvPr/>
            </p:nvSpPr>
            <p:spPr>
              <a:xfrm>
                <a:off x="0" y="2823925"/>
                <a:ext cx="2286000" cy="2319600"/>
              </a:xfrm>
              <a:prstGeom prst="rect">
                <a:avLst/>
              </a:prstGeom>
              <a:solidFill>
                <a:srgbClr val="0069AB"/>
              </a:solidFill>
              <a:ln cap="flat" cmpd="sng" w="9525">
                <a:solidFill>
                  <a:srgbClr val="0069A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 name="Google Shape;192;p4"/>
              <p:cNvSpPr/>
              <p:nvPr/>
            </p:nvSpPr>
            <p:spPr>
              <a:xfrm>
                <a:off x="0" y="2295575"/>
                <a:ext cx="2286000" cy="53700"/>
              </a:xfrm>
              <a:prstGeom prst="rect">
                <a:avLst/>
              </a:prstGeom>
              <a:solidFill>
                <a:srgbClr val="0069AB"/>
              </a:solidFill>
              <a:ln cap="flat" cmpd="sng" w="9525">
                <a:solidFill>
                  <a:srgbClr val="0069A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93" name="Google Shape;193;p4"/>
            <p:cNvSpPr txBox="1"/>
            <p:nvPr/>
          </p:nvSpPr>
          <p:spPr>
            <a:xfrm>
              <a:off x="216300" y="3050050"/>
              <a:ext cx="1853400" cy="797700"/>
            </a:xfrm>
            <a:prstGeom prst="rect">
              <a:avLst/>
            </a:prstGeom>
            <a:noFill/>
            <a:ln cap="flat" cmpd="sng" w="9525">
              <a:solidFill>
                <a:srgbClr val="0069AB"/>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FFFFFF"/>
                  </a:solidFill>
                  <a:latin typeface="Roboto"/>
                  <a:ea typeface="Roboto"/>
                  <a:cs typeface="Roboto"/>
                  <a:sym typeface="Roboto"/>
                </a:rPr>
                <a:t>Overview of Problem</a:t>
              </a:r>
              <a:endParaRPr b="1" sz="1600">
                <a:solidFill>
                  <a:srgbClr val="FFFFFF"/>
                </a:solidFill>
                <a:latin typeface="Roboto"/>
                <a:ea typeface="Roboto"/>
                <a:cs typeface="Roboto"/>
                <a:sym typeface="Roboto"/>
              </a:endParaRPr>
            </a:p>
          </p:txBody>
        </p:sp>
        <p:sp>
          <p:nvSpPr>
            <p:cNvPr id="194" name="Google Shape;194;p4"/>
            <p:cNvSpPr txBox="1"/>
            <p:nvPr/>
          </p:nvSpPr>
          <p:spPr>
            <a:xfrm>
              <a:off x="216300" y="3896950"/>
              <a:ext cx="1853400" cy="996000"/>
            </a:xfrm>
            <a:prstGeom prst="rect">
              <a:avLst/>
            </a:prstGeom>
            <a:noFill/>
            <a:ln cap="flat" cmpd="sng" w="9525">
              <a:solidFill>
                <a:srgbClr val="0069AB"/>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200">
                  <a:solidFill>
                    <a:srgbClr val="FFFFFF"/>
                  </a:solidFill>
                  <a:latin typeface="Roboto"/>
                  <a:ea typeface="Roboto"/>
                  <a:cs typeface="Roboto"/>
                  <a:sym typeface="Roboto"/>
                </a:rPr>
                <a:t>EVA’s previous site did not reflect the quality of its coaching work, weakening credibility with prospective clients and limiting lead capture.</a:t>
              </a:r>
              <a:endParaRPr sz="1200">
                <a:solidFill>
                  <a:srgbClr val="FFFFFF"/>
                </a:solidFill>
                <a:latin typeface="Roboto"/>
                <a:ea typeface="Roboto"/>
                <a:cs typeface="Roboto"/>
                <a:sym typeface="Roboto"/>
              </a:endParaRPr>
            </a:p>
          </p:txBody>
        </p:sp>
        <p:cxnSp>
          <p:nvCxnSpPr>
            <p:cNvPr id="195" name="Google Shape;195;p4"/>
            <p:cNvCxnSpPr/>
            <p:nvPr/>
          </p:nvCxnSpPr>
          <p:spPr>
            <a:xfrm>
              <a:off x="2286000" y="2295575"/>
              <a:ext cx="0" cy="2837400"/>
            </a:xfrm>
            <a:prstGeom prst="straightConnector1">
              <a:avLst/>
            </a:prstGeom>
            <a:noFill/>
            <a:ln cap="flat" cmpd="sng" w="9525">
              <a:solidFill>
                <a:srgbClr val="0069AB"/>
              </a:solidFill>
              <a:prstDash val="dot"/>
              <a:round/>
              <a:headEnd len="sm" w="sm" type="none"/>
              <a:tailEnd len="sm" w="sm" type="non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00" name="Shape 200"/>
        <p:cNvGrpSpPr/>
        <p:nvPr/>
      </p:nvGrpSpPr>
      <p:grpSpPr>
        <a:xfrm>
          <a:off x="0" y="0"/>
          <a:ext cx="0" cy="0"/>
          <a:chOff x="0" y="0"/>
          <a:chExt cx="0" cy="0"/>
        </a:xfrm>
      </p:grpSpPr>
      <p:sp>
        <p:nvSpPr>
          <p:cNvPr id="201" name="Google Shape;201;g3976ff9710b_2_446"/>
          <p:cNvSpPr/>
          <p:nvPr/>
        </p:nvSpPr>
        <p:spPr>
          <a:xfrm>
            <a:off x="0" y="0"/>
            <a:ext cx="12161400" cy="54900"/>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2" name="Google Shape;202;g3976ff9710b_2_446"/>
          <p:cNvPicPr preferRelativeResize="0"/>
          <p:nvPr/>
        </p:nvPicPr>
        <p:blipFill rotWithShape="1">
          <a:blip r:embed="rId3">
            <a:alphaModFix/>
          </a:blip>
          <a:srcRect b="0" l="0" r="0" t="0"/>
          <a:stretch/>
        </p:blipFill>
        <p:spPr>
          <a:xfrm>
            <a:off x="11247120" y="182880"/>
            <a:ext cx="594360" cy="594360"/>
          </a:xfrm>
          <a:prstGeom prst="rect">
            <a:avLst/>
          </a:prstGeom>
          <a:noFill/>
          <a:ln>
            <a:noFill/>
          </a:ln>
        </p:spPr>
      </p:pic>
      <p:sp>
        <p:nvSpPr>
          <p:cNvPr id="203" name="Google Shape;203;g3976ff9710b_2_446"/>
          <p:cNvSpPr/>
          <p:nvPr/>
        </p:nvSpPr>
        <p:spPr>
          <a:xfrm>
            <a:off x="10789920" y="6446520"/>
            <a:ext cx="10974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5 / 10</a:t>
            </a:r>
            <a:endParaRPr b="0" i="0" sz="900" u="none" cap="none" strike="noStrike">
              <a:solidFill>
                <a:schemeClr val="dk1"/>
              </a:solidFill>
              <a:latin typeface="Calibri"/>
              <a:ea typeface="Calibri"/>
              <a:cs typeface="Calibri"/>
              <a:sym typeface="Calibri"/>
            </a:endParaRPr>
          </a:p>
        </p:txBody>
      </p:sp>
      <p:sp>
        <p:nvSpPr>
          <p:cNvPr id="204" name="Google Shape;204;g3976ff9710b_2_446"/>
          <p:cNvSpPr/>
          <p:nvPr/>
        </p:nvSpPr>
        <p:spPr>
          <a:xfrm>
            <a:off x="548640" y="274320"/>
            <a:ext cx="91440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A2E"/>
              </a:buClr>
              <a:buSzPts val="3000"/>
              <a:buFont typeface="Calibri"/>
              <a:buNone/>
            </a:pPr>
            <a:r>
              <a:rPr b="1" lang="en-US" sz="3200">
                <a:solidFill>
                  <a:srgbClr val="1A1A2E"/>
                </a:solidFill>
                <a:latin typeface="Calibri"/>
                <a:ea typeface="Calibri"/>
                <a:cs typeface="Calibri"/>
                <a:sym typeface="Calibri"/>
              </a:rPr>
              <a:t>Project Context - Success Criteria</a:t>
            </a:r>
            <a:endParaRPr b="0" i="0" sz="3200" u="none" cap="none" strike="noStrike">
              <a:solidFill>
                <a:schemeClr val="dk1"/>
              </a:solidFill>
              <a:latin typeface="Calibri"/>
              <a:ea typeface="Calibri"/>
              <a:cs typeface="Calibri"/>
              <a:sym typeface="Calibri"/>
            </a:endParaRPr>
          </a:p>
        </p:txBody>
      </p:sp>
      <p:grpSp>
        <p:nvGrpSpPr>
          <p:cNvPr id="205" name="Google Shape;205;g3976ff9710b_2_446"/>
          <p:cNvGrpSpPr/>
          <p:nvPr/>
        </p:nvGrpSpPr>
        <p:grpSpPr>
          <a:xfrm>
            <a:off x="6095850" y="2208308"/>
            <a:ext cx="3047924" cy="4649563"/>
            <a:chOff x="0" y="2295575"/>
            <a:chExt cx="2286000" cy="2847950"/>
          </a:xfrm>
        </p:grpSpPr>
        <p:grpSp>
          <p:nvGrpSpPr>
            <p:cNvPr id="206" name="Google Shape;206;g3976ff9710b_2_446"/>
            <p:cNvGrpSpPr/>
            <p:nvPr/>
          </p:nvGrpSpPr>
          <p:grpSpPr>
            <a:xfrm>
              <a:off x="0" y="2295575"/>
              <a:ext cx="2286000" cy="2847950"/>
              <a:chOff x="0" y="2295575"/>
              <a:chExt cx="2286000" cy="2847950"/>
            </a:xfrm>
          </p:grpSpPr>
          <p:sp>
            <p:nvSpPr>
              <p:cNvPr id="207" name="Google Shape;207;g3976ff9710b_2_446"/>
              <p:cNvSpPr/>
              <p:nvPr/>
            </p:nvSpPr>
            <p:spPr>
              <a:xfrm>
                <a:off x="0" y="2823925"/>
                <a:ext cx="22860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8" name="Google Shape;208;g3976ff9710b_2_446"/>
              <p:cNvSpPr/>
              <p:nvPr/>
            </p:nvSpPr>
            <p:spPr>
              <a:xfrm>
                <a:off x="0" y="2295575"/>
                <a:ext cx="2286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09" name="Google Shape;209;g3976ff9710b_2_446"/>
            <p:cNvSpPr txBox="1"/>
            <p:nvPr/>
          </p:nvSpPr>
          <p:spPr>
            <a:xfrm>
              <a:off x="216291" y="2441107"/>
              <a:ext cx="871200" cy="260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t/>
              </a:r>
              <a:endParaRPr sz="1300">
                <a:solidFill>
                  <a:srgbClr val="5E5E5E"/>
                </a:solidFill>
                <a:latin typeface="Roboto"/>
                <a:ea typeface="Roboto"/>
                <a:cs typeface="Roboto"/>
                <a:sym typeface="Roboto"/>
              </a:endParaRPr>
            </a:p>
          </p:txBody>
        </p:sp>
        <p:sp>
          <p:nvSpPr>
            <p:cNvPr id="210" name="Google Shape;210;g3976ff9710b_2_446"/>
            <p:cNvSpPr txBox="1"/>
            <p:nvPr/>
          </p:nvSpPr>
          <p:spPr>
            <a:xfrm>
              <a:off x="216300" y="3050050"/>
              <a:ext cx="1853400" cy="797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5E5E5E"/>
                  </a:solidFill>
                  <a:latin typeface="Roboto"/>
                  <a:ea typeface="Roboto"/>
                  <a:cs typeface="Roboto"/>
                  <a:sym typeface="Roboto"/>
                </a:rPr>
                <a:t>Enhanced User Experience</a:t>
              </a:r>
              <a:endParaRPr b="1" sz="1600">
                <a:solidFill>
                  <a:srgbClr val="5E5E5E"/>
                </a:solidFill>
                <a:latin typeface="Roboto"/>
                <a:ea typeface="Roboto"/>
                <a:cs typeface="Roboto"/>
                <a:sym typeface="Roboto"/>
              </a:endParaRPr>
            </a:p>
          </p:txBody>
        </p:sp>
        <p:sp>
          <p:nvSpPr>
            <p:cNvPr id="211" name="Google Shape;211;g3976ff9710b_2_446"/>
            <p:cNvSpPr txBox="1"/>
            <p:nvPr/>
          </p:nvSpPr>
          <p:spPr>
            <a:xfrm>
              <a:off x="216300" y="3896950"/>
              <a:ext cx="1853400" cy="9960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lang="en-US" sz="1200">
                  <a:solidFill>
                    <a:srgbClr val="5E5E5E"/>
                  </a:solidFill>
                  <a:latin typeface="Roboto"/>
                  <a:ea typeface="Roboto"/>
                  <a:cs typeface="Roboto"/>
                  <a:sym typeface="Roboto"/>
                </a:rPr>
                <a:t>Fully responsive on desktop and mobile, with consistent navigation and page loads under 3 seconds.</a:t>
              </a:r>
              <a:endParaRPr sz="1200">
                <a:solidFill>
                  <a:schemeClr val="lt1"/>
                </a:solidFill>
                <a:latin typeface="Roboto"/>
                <a:ea typeface="Roboto"/>
                <a:cs typeface="Roboto"/>
                <a:sym typeface="Roboto"/>
              </a:endParaRPr>
            </a:p>
            <a:p>
              <a:pPr indent="0" lvl="0" marL="0" rtl="0" algn="l">
                <a:lnSpc>
                  <a:spcPct val="115000"/>
                </a:lnSpc>
                <a:spcBef>
                  <a:spcPts val="2100"/>
                </a:spcBef>
                <a:spcAft>
                  <a:spcPts val="2100"/>
                </a:spcAft>
                <a:buNone/>
              </a:pPr>
              <a:r>
                <a:t/>
              </a:r>
              <a:endParaRPr sz="1200">
                <a:solidFill>
                  <a:srgbClr val="5E5E5E"/>
                </a:solidFill>
                <a:latin typeface="Roboto"/>
                <a:ea typeface="Roboto"/>
                <a:cs typeface="Roboto"/>
                <a:sym typeface="Roboto"/>
              </a:endParaRPr>
            </a:p>
          </p:txBody>
        </p:sp>
      </p:grpSp>
      <p:grpSp>
        <p:nvGrpSpPr>
          <p:cNvPr id="212" name="Google Shape;212;g3976ff9710b_2_446"/>
          <p:cNvGrpSpPr/>
          <p:nvPr/>
        </p:nvGrpSpPr>
        <p:grpSpPr>
          <a:xfrm>
            <a:off x="0" y="2208308"/>
            <a:ext cx="3047924" cy="4649563"/>
            <a:chOff x="0" y="2295575"/>
            <a:chExt cx="2286000" cy="2847950"/>
          </a:xfrm>
        </p:grpSpPr>
        <p:grpSp>
          <p:nvGrpSpPr>
            <p:cNvPr id="213" name="Google Shape;213;g3976ff9710b_2_446"/>
            <p:cNvGrpSpPr/>
            <p:nvPr/>
          </p:nvGrpSpPr>
          <p:grpSpPr>
            <a:xfrm>
              <a:off x="0" y="2295575"/>
              <a:ext cx="2286000" cy="2847950"/>
              <a:chOff x="0" y="2295575"/>
              <a:chExt cx="2286000" cy="2847950"/>
            </a:xfrm>
          </p:grpSpPr>
          <p:sp>
            <p:nvSpPr>
              <p:cNvPr id="214" name="Google Shape;214;g3976ff9710b_2_446"/>
              <p:cNvSpPr/>
              <p:nvPr/>
            </p:nvSpPr>
            <p:spPr>
              <a:xfrm>
                <a:off x="0" y="2823925"/>
                <a:ext cx="22860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5" name="Google Shape;215;g3976ff9710b_2_446"/>
              <p:cNvSpPr/>
              <p:nvPr/>
            </p:nvSpPr>
            <p:spPr>
              <a:xfrm>
                <a:off x="0" y="2295575"/>
                <a:ext cx="2286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16" name="Google Shape;216;g3976ff9710b_2_446"/>
            <p:cNvSpPr txBox="1"/>
            <p:nvPr/>
          </p:nvSpPr>
          <p:spPr>
            <a:xfrm>
              <a:off x="216291" y="2441107"/>
              <a:ext cx="871200" cy="260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t/>
              </a:r>
              <a:endParaRPr sz="1300">
                <a:solidFill>
                  <a:srgbClr val="5E5E5E"/>
                </a:solidFill>
                <a:latin typeface="Roboto"/>
                <a:ea typeface="Roboto"/>
                <a:cs typeface="Roboto"/>
                <a:sym typeface="Roboto"/>
              </a:endParaRPr>
            </a:p>
          </p:txBody>
        </p:sp>
        <p:sp>
          <p:nvSpPr>
            <p:cNvPr id="217" name="Google Shape;217;g3976ff9710b_2_446"/>
            <p:cNvSpPr txBox="1"/>
            <p:nvPr/>
          </p:nvSpPr>
          <p:spPr>
            <a:xfrm>
              <a:off x="216300" y="3050050"/>
              <a:ext cx="1853400" cy="7977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5E5E5E"/>
                  </a:solidFill>
                  <a:latin typeface="Roboto"/>
                  <a:ea typeface="Roboto"/>
                  <a:cs typeface="Roboto"/>
                  <a:sym typeface="Roboto"/>
                </a:rPr>
                <a:t>Increased Traffic</a:t>
              </a:r>
              <a:endParaRPr b="1" sz="1600">
                <a:solidFill>
                  <a:srgbClr val="5E5E5E"/>
                </a:solidFill>
                <a:latin typeface="Roboto"/>
                <a:ea typeface="Roboto"/>
                <a:cs typeface="Roboto"/>
                <a:sym typeface="Roboto"/>
              </a:endParaRPr>
            </a:p>
          </p:txBody>
        </p:sp>
        <p:sp>
          <p:nvSpPr>
            <p:cNvPr id="218" name="Google Shape;218;g3976ff9710b_2_446"/>
            <p:cNvSpPr txBox="1"/>
            <p:nvPr/>
          </p:nvSpPr>
          <p:spPr>
            <a:xfrm>
              <a:off x="216300" y="3896950"/>
              <a:ext cx="1853400" cy="9960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200">
                  <a:solidFill>
                    <a:srgbClr val="5E5E5E"/>
                  </a:solidFill>
                  <a:latin typeface="Roboto"/>
                  <a:ea typeface="Roboto"/>
                  <a:cs typeface="Roboto"/>
                  <a:sym typeface="Roboto"/>
                </a:rPr>
                <a:t>SEO-ready structure in place (semantic HTML, page titles, meta descriptions) to support measurable traffic growth after launch.</a:t>
              </a:r>
              <a:endParaRPr sz="1200">
                <a:solidFill>
                  <a:srgbClr val="5E5E5E"/>
                </a:solidFill>
                <a:latin typeface="Roboto"/>
                <a:ea typeface="Roboto"/>
                <a:cs typeface="Roboto"/>
                <a:sym typeface="Roboto"/>
              </a:endParaRPr>
            </a:p>
          </p:txBody>
        </p:sp>
        <p:cxnSp>
          <p:nvCxnSpPr>
            <p:cNvPr id="219" name="Google Shape;219;g3976ff9710b_2_446"/>
            <p:cNvCxnSpPr/>
            <p:nvPr/>
          </p:nvCxnSpPr>
          <p:spPr>
            <a:xfrm>
              <a:off x="2286000" y="2295575"/>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220" name="Google Shape;220;g3976ff9710b_2_446"/>
          <p:cNvGrpSpPr/>
          <p:nvPr/>
        </p:nvGrpSpPr>
        <p:grpSpPr>
          <a:xfrm>
            <a:off x="3047925" y="2208306"/>
            <a:ext cx="3047924" cy="4649563"/>
            <a:chOff x="0" y="2295575"/>
            <a:chExt cx="2286000" cy="2847950"/>
          </a:xfrm>
        </p:grpSpPr>
        <p:grpSp>
          <p:nvGrpSpPr>
            <p:cNvPr id="221" name="Google Shape;221;g3976ff9710b_2_446"/>
            <p:cNvGrpSpPr/>
            <p:nvPr/>
          </p:nvGrpSpPr>
          <p:grpSpPr>
            <a:xfrm>
              <a:off x="0" y="2295575"/>
              <a:ext cx="2286000" cy="2847950"/>
              <a:chOff x="0" y="2295575"/>
              <a:chExt cx="2286000" cy="2847950"/>
            </a:xfrm>
          </p:grpSpPr>
          <p:sp>
            <p:nvSpPr>
              <p:cNvPr id="222" name="Google Shape;222;g3976ff9710b_2_446"/>
              <p:cNvSpPr/>
              <p:nvPr/>
            </p:nvSpPr>
            <p:spPr>
              <a:xfrm>
                <a:off x="0" y="2823925"/>
                <a:ext cx="2286000" cy="2319600"/>
              </a:xfrm>
              <a:prstGeom prst="rect">
                <a:avLst/>
              </a:prstGeom>
              <a:solidFill>
                <a:srgbClr val="0069AB"/>
              </a:solidFill>
              <a:ln cap="flat" cmpd="sng" w="9525">
                <a:solidFill>
                  <a:srgbClr val="0069A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3" name="Google Shape;223;g3976ff9710b_2_446"/>
              <p:cNvSpPr/>
              <p:nvPr/>
            </p:nvSpPr>
            <p:spPr>
              <a:xfrm>
                <a:off x="0" y="2295575"/>
                <a:ext cx="2286000" cy="53700"/>
              </a:xfrm>
              <a:prstGeom prst="rect">
                <a:avLst/>
              </a:prstGeom>
              <a:solidFill>
                <a:srgbClr val="0069AB"/>
              </a:solidFill>
              <a:ln cap="flat" cmpd="sng" w="9525">
                <a:solidFill>
                  <a:srgbClr val="0069A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24" name="Google Shape;224;g3976ff9710b_2_446"/>
            <p:cNvSpPr txBox="1"/>
            <p:nvPr/>
          </p:nvSpPr>
          <p:spPr>
            <a:xfrm>
              <a:off x="216300" y="3050050"/>
              <a:ext cx="1853400" cy="797700"/>
            </a:xfrm>
            <a:prstGeom prst="rect">
              <a:avLst/>
            </a:prstGeom>
            <a:noFill/>
            <a:ln cap="flat" cmpd="sng" w="9525">
              <a:solidFill>
                <a:srgbClr val="0069AB"/>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FFFFFF"/>
                  </a:solidFill>
                  <a:latin typeface="Roboto"/>
                  <a:ea typeface="Roboto"/>
                  <a:cs typeface="Roboto"/>
                  <a:sym typeface="Roboto"/>
                </a:rPr>
                <a:t>Increased User Engagement</a:t>
              </a:r>
              <a:endParaRPr b="1" sz="1600">
                <a:solidFill>
                  <a:srgbClr val="FFFFFF"/>
                </a:solidFill>
                <a:latin typeface="Roboto"/>
                <a:ea typeface="Roboto"/>
                <a:cs typeface="Roboto"/>
                <a:sym typeface="Roboto"/>
              </a:endParaRPr>
            </a:p>
          </p:txBody>
        </p:sp>
        <p:sp>
          <p:nvSpPr>
            <p:cNvPr id="225" name="Google Shape;225;g3976ff9710b_2_446"/>
            <p:cNvSpPr txBox="1"/>
            <p:nvPr/>
          </p:nvSpPr>
          <p:spPr>
            <a:xfrm>
              <a:off x="216300" y="3896950"/>
              <a:ext cx="1853400" cy="996000"/>
            </a:xfrm>
            <a:prstGeom prst="rect">
              <a:avLst/>
            </a:prstGeom>
            <a:noFill/>
            <a:ln cap="flat" cmpd="sng" w="9525">
              <a:solidFill>
                <a:srgbClr val="0069AB"/>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200">
                  <a:solidFill>
                    <a:srgbClr val="FFFFFF"/>
                  </a:solidFill>
                  <a:latin typeface="Roboto"/>
                  <a:ea typeface="Roboto"/>
                  <a:cs typeface="Roboto"/>
                  <a:sym typeface="Roboto"/>
                </a:rPr>
                <a:t>Every key page leads visitors to a clear call-to-action; Contact reachable in two clicks or fewer from any page.</a:t>
              </a:r>
              <a:endParaRPr sz="1200">
                <a:solidFill>
                  <a:srgbClr val="FFFFFF"/>
                </a:solidFill>
                <a:latin typeface="Roboto"/>
                <a:ea typeface="Roboto"/>
                <a:cs typeface="Roboto"/>
                <a:sym typeface="Roboto"/>
              </a:endParaRPr>
            </a:p>
          </p:txBody>
        </p:sp>
        <p:cxnSp>
          <p:nvCxnSpPr>
            <p:cNvPr id="226" name="Google Shape;226;g3976ff9710b_2_446"/>
            <p:cNvCxnSpPr/>
            <p:nvPr/>
          </p:nvCxnSpPr>
          <p:spPr>
            <a:xfrm>
              <a:off x="2286000" y="2295575"/>
              <a:ext cx="0" cy="2837400"/>
            </a:xfrm>
            <a:prstGeom prst="straightConnector1">
              <a:avLst/>
            </a:prstGeom>
            <a:noFill/>
            <a:ln cap="flat" cmpd="sng" w="9525">
              <a:solidFill>
                <a:srgbClr val="0069AB"/>
              </a:solidFill>
              <a:prstDash val="dot"/>
              <a:round/>
              <a:headEnd len="sm" w="sm" type="none"/>
              <a:tailEnd len="sm" w="sm" type="none"/>
            </a:ln>
          </p:spPr>
        </p:cxnSp>
      </p:grpSp>
      <p:grpSp>
        <p:nvGrpSpPr>
          <p:cNvPr id="227" name="Google Shape;227;g3976ff9710b_2_446"/>
          <p:cNvGrpSpPr/>
          <p:nvPr/>
        </p:nvGrpSpPr>
        <p:grpSpPr>
          <a:xfrm>
            <a:off x="9143775" y="2208306"/>
            <a:ext cx="3047924" cy="4649563"/>
            <a:chOff x="0" y="2295575"/>
            <a:chExt cx="2286000" cy="2847950"/>
          </a:xfrm>
        </p:grpSpPr>
        <p:grpSp>
          <p:nvGrpSpPr>
            <p:cNvPr id="228" name="Google Shape;228;g3976ff9710b_2_446"/>
            <p:cNvGrpSpPr/>
            <p:nvPr/>
          </p:nvGrpSpPr>
          <p:grpSpPr>
            <a:xfrm>
              <a:off x="0" y="2295575"/>
              <a:ext cx="2286000" cy="2847950"/>
              <a:chOff x="0" y="2295575"/>
              <a:chExt cx="2286000" cy="2847950"/>
            </a:xfrm>
          </p:grpSpPr>
          <p:sp>
            <p:nvSpPr>
              <p:cNvPr id="229" name="Google Shape;229;g3976ff9710b_2_446"/>
              <p:cNvSpPr/>
              <p:nvPr/>
            </p:nvSpPr>
            <p:spPr>
              <a:xfrm>
                <a:off x="0" y="2823925"/>
                <a:ext cx="2286000" cy="2319600"/>
              </a:xfrm>
              <a:prstGeom prst="rect">
                <a:avLst/>
              </a:prstGeom>
              <a:solidFill>
                <a:srgbClr val="0069AB"/>
              </a:solidFill>
              <a:ln cap="flat" cmpd="sng" w="9525">
                <a:solidFill>
                  <a:srgbClr val="0069A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g3976ff9710b_2_446"/>
              <p:cNvSpPr/>
              <p:nvPr/>
            </p:nvSpPr>
            <p:spPr>
              <a:xfrm>
                <a:off x="0" y="2295575"/>
                <a:ext cx="2286000" cy="53700"/>
              </a:xfrm>
              <a:prstGeom prst="rect">
                <a:avLst/>
              </a:prstGeom>
              <a:solidFill>
                <a:srgbClr val="0069AB"/>
              </a:solidFill>
              <a:ln cap="flat" cmpd="sng" w="9525">
                <a:solidFill>
                  <a:srgbClr val="0069A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31" name="Google Shape;231;g3976ff9710b_2_446"/>
            <p:cNvSpPr txBox="1"/>
            <p:nvPr/>
          </p:nvSpPr>
          <p:spPr>
            <a:xfrm>
              <a:off x="216300" y="3050050"/>
              <a:ext cx="1853400" cy="797700"/>
            </a:xfrm>
            <a:prstGeom prst="rect">
              <a:avLst/>
            </a:prstGeom>
            <a:noFill/>
            <a:ln cap="flat" cmpd="sng" w="9525">
              <a:solidFill>
                <a:srgbClr val="0069AB"/>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600">
                  <a:solidFill>
                    <a:srgbClr val="FFFFFF"/>
                  </a:solidFill>
                  <a:latin typeface="Roboto"/>
                  <a:ea typeface="Roboto"/>
                  <a:cs typeface="Roboto"/>
                  <a:sym typeface="Roboto"/>
                </a:rPr>
                <a:t>Stronger Brand Credibility</a:t>
              </a:r>
              <a:endParaRPr b="1" sz="1600">
                <a:solidFill>
                  <a:srgbClr val="FFFFFF"/>
                </a:solidFill>
                <a:latin typeface="Roboto"/>
                <a:ea typeface="Roboto"/>
                <a:cs typeface="Roboto"/>
                <a:sym typeface="Roboto"/>
              </a:endParaRPr>
            </a:p>
          </p:txBody>
        </p:sp>
        <p:sp>
          <p:nvSpPr>
            <p:cNvPr id="232" name="Google Shape;232;g3976ff9710b_2_446"/>
            <p:cNvSpPr txBox="1"/>
            <p:nvPr/>
          </p:nvSpPr>
          <p:spPr>
            <a:xfrm>
              <a:off x="216300" y="3896950"/>
              <a:ext cx="1853400" cy="996000"/>
            </a:xfrm>
            <a:prstGeom prst="rect">
              <a:avLst/>
            </a:prstGeom>
            <a:noFill/>
            <a:ln cap="flat" cmpd="sng" w="9525">
              <a:solidFill>
                <a:srgbClr val="0069AB"/>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200">
                  <a:solidFill>
                    <a:srgbClr val="FFFFFF"/>
                  </a:solidFill>
                  <a:latin typeface="Roboto"/>
                  <a:ea typeface="Roboto"/>
                  <a:cs typeface="Roboto"/>
                  <a:sym typeface="Roboto"/>
                </a:rPr>
                <a:t>Visual design, copy, and service presentation reviewed by EVA leadership and signed off as premium-brand ready.</a:t>
              </a:r>
              <a:endParaRPr sz="1200">
                <a:solidFill>
                  <a:srgbClr val="FFFFFF"/>
                </a:solidFill>
                <a:latin typeface="Roboto"/>
                <a:ea typeface="Roboto"/>
                <a:cs typeface="Roboto"/>
                <a:sym typeface="Roboto"/>
              </a:endParaRPr>
            </a:p>
          </p:txBody>
        </p:sp>
        <p:cxnSp>
          <p:nvCxnSpPr>
            <p:cNvPr id="233" name="Google Shape;233;g3976ff9710b_2_446"/>
            <p:cNvCxnSpPr/>
            <p:nvPr/>
          </p:nvCxnSpPr>
          <p:spPr>
            <a:xfrm>
              <a:off x="2286000" y="2295575"/>
              <a:ext cx="0" cy="2837400"/>
            </a:xfrm>
            <a:prstGeom prst="straightConnector1">
              <a:avLst/>
            </a:prstGeom>
            <a:noFill/>
            <a:ln cap="flat" cmpd="sng" w="9525">
              <a:solidFill>
                <a:srgbClr val="0069AB"/>
              </a:solidFill>
              <a:prstDash val="dot"/>
              <a:round/>
              <a:headEnd len="sm" w="sm" type="none"/>
              <a:tailEnd len="sm" w="sm"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38" name="Shape 238"/>
        <p:cNvGrpSpPr/>
        <p:nvPr/>
      </p:nvGrpSpPr>
      <p:grpSpPr>
        <a:xfrm>
          <a:off x="0" y="0"/>
          <a:ext cx="0" cy="0"/>
          <a:chOff x="0" y="0"/>
          <a:chExt cx="0" cy="0"/>
        </a:xfrm>
      </p:grpSpPr>
      <p:sp>
        <p:nvSpPr>
          <p:cNvPr id="239" name="Google Shape;239;g3d712f1194d_2_28"/>
          <p:cNvSpPr/>
          <p:nvPr/>
        </p:nvSpPr>
        <p:spPr>
          <a:xfrm>
            <a:off x="0" y="0"/>
            <a:ext cx="12161400" cy="54900"/>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40" name="Google Shape;240;g3d712f1194d_2_28"/>
          <p:cNvPicPr preferRelativeResize="0"/>
          <p:nvPr/>
        </p:nvPicPr>
        <p:blipFill rotWithShape="1">
          <a:blip r:embed="rId3">
            <a:alphaModFix/>
          </a:blip>
          <a:srcRect b="0" l="0" r="0" t="0"/>
          <a:stretch/>
        </p:blipFill>
        <p:spPr>
          <a:xfrm>
            <a:off x="11247120" y="182880"/>
            <a:ext cx="594360" cy="594360"/>
          </a:xfrm>
          <a:prstGeom prst="rect">
            <a:avLst/>
          </a:prstGeom>
          <a:noFill/>
          <a:ln>
            <a:noFill/>
          </a:ln>
        </p:spPr>
      </p:pic>
      <p:sp>
        <p:nvSpPr>
          <p:cNvPr id="241" name="Google Shape;241;g3d712f1194d_2_28"/>
          <p:cNvSpPr/>
          <p:nvPr/>
        </p:nvSpPr>
        <p:spPr>
          <a:xfrm>
            <a:off x="10789920" y="6446520"/>
            <a:ext cx="10974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6 / 10</a:t>
            </a:r>
            <a:endParaRPr b="0" i="0" sz="900" u="none" cap="none" strike="noStrike">
              <a:solidFill>
                <a:schemeClr val="dk1"/>
              </a:solidFill>
              <a:latin typeface="Calibri"/>
              <a:ea typeface="Calibri"/>
              <a:cs typeface="Calibri"/>
              <a:sym typeface="Calibri"/>
            </a:endParaRPr>
          </a:p>
        </p:txBody>
      </p:sp>
      <p:sp>
        <p:nvSpPr>
          <p:cNvPr id="242" name="Google Shape;242;g3d712f1194d_2_28"/>
          <p:cNvSpPr/>
          <p:nvPr/>
        </p:nvSpPr>
        <p:spPr>
          <a:xfrm>
            <a:off x="548651" y="274327"/>
            <a:ext cx="9738300" cy="812100"/>
          </a:xfrm>
          <a:prstGeom prst="rect">
            <a:avLst/>
          </a:prstGeom>
          <a:noFill/>
          <a:ln>
            <a:noFill/>
          </a:ln>
        </p:spPr>
        <p:txBody>
          <a:bodyPr anchorCtr="0" anchor="ctr" bIns="0" lIns="0" spcFirstLastPara="1" rIns="0" wrap="square" tIns="0">
            <a:noAutofit/>
          </a:bodyPr>
          <a:lstStyle/>
          <a:p>
            <a:pPr indent="0" lvl="0" marL="0" rtl="0" algn="l">
              <a:lnSpc>
                <a:spcPct val="140017"/>
              </a:lnSpc>
              <a:spcBef>
                <a:spcPts val="0"/>
              </a:spcBef>
              <a:spcAft>
                <a:spcPts val="0"/>
              </a:spcAft>
              <a:buClr>
                <a:schemeClr val="dk1"/>
              </a:buClr>
              <a:buFont typeface="Arial"/>
              <a:buNone/>
            </a:pPr>
            <a:r>
              <a:rPr b="1" lang="en-US" sz="3000">
                <a:solidFill>
                  <a:schemeClr val="dk1"/>
                </a:solidFill>
                <a:latin typeface="Calibri"/>
                <a:ea typeface="Calibri"/>
                <a:cs typeface="Calibri"/>
                <a:sym typeface="Calibri"/>
              </a:rPr>
              <a:t>SOLUTION DELIVERY &amp; IMPLEMENTATION</a:t>
            </a:r>
            <a:endParaRPr b="1" sz="3000">
              <a:solidFill>
                <a:srgbClr val="1A1A2E"/>
              </a:solidFill>
              <a:latin typeface="Calibri"/>
              <a:ea typeface="Calibri"/>
              <a:cs typeface="Calibri"/>
              <a:sym typeface="Calibri"/>
            </a:endParaRPr>
          </a:p>
        </p:txBody>
      </p:sp>
      <p:grpSp>
        <p:nvGrpSpPr>
          <p:cNvPr id="243" name="Google Shape;243;g3d712f1194d_2_28"/>
          <p:cNvGrpSpPr/>
          <p:nvPr/>
        </p:nvGrpSpPr>
        <p:grpSpPr>
          <a:xfrm>
            <a:off x="0" y="2208443"/>
            <a:ext cx="3047924" cy="4649563"/>
            <a:chOff x="0" y="2295575"/>
            <a:chExt cx="2286000" cy="2847950"/>
          </a:xfrm>
        </p:grpSpPr>
        <p:grpSp>
          <p:nvGrpSpPr>
            <p:cNvPr id="244" name="Google Shape;244;g3d712f1194d_2_28"/>
            <p:cNvGrpSpPr/>
            <p:nvPr/>
          </p:nvGrpSpPr>
          <p:grpSpPr>
            <a:xfrm>
              <a:off x="0" y="2295575"/>
              <a:ext cx="2286000" cy="2847950"/>
              <a:chOff x="0" y="2295575"/>
              <a:chExt cx="2286000" cy="2847950"/>
            </a:xfrm>
          </p:grpSpPr>
          <p:sp>
            <p:nvSpPr>
              <p:cNvPr id="245" name="Google Shape;245;g3d712f1194d_2_28"/>
              <p:cNvSpPr/>
              <p:nvPr/>
            </p:nvSpPr>
            <p:spPr>
              <a:xfrm>
                <a:off x="0" y="2823925"/>
                <a:ext cx="2286000" cy="2319600"/>
              </a:xfrm>
              <a:prstGeom prst="rect">
                <a:avLst/>
              </a:prstGeom>
              <a:solidFill>
                <a:srgbClr val="1B78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6" name="Google Shape;246;g3d712f1194d_2_28"/>
              <p:cNvSpPr/>
              <p:nvPr/>
            </p:nvSpPr>
            <p:spPr>
              <a:xfrm>
                <a:off x="0" y="2295575"/>
                <a:ext cx="2286000" cy="53700"/>
              </a:xfrm>
              <a:prstGeom prst="rect">
                <a:avLst/>
              </a:prstGeom>
              <a:solidFill>
                <a:srgbClr val="1B786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47" name="Google Shape;247;g3d712f1194d_2_28"/>
            <p:cNvSpPr txBox="1"/>
            <p:nvPr/>
          </p:nvSpPr>
          <p:spPr>
            <a:xfrm>
              <a:off x="216305" y="3050051"/>
              <a:ext cx="1853400" cy="17607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rgbClr val="FFFFFF"/>
                  </a:solidFill>
                  <a:latin typeface="Roboto"/>
                  <a:ea typeface="Roboto"/>
                  <a:cs typeface="Roboto"/>
                  <a:sym typeface="Roboto"/>
                </a:rPr>
                <a:t>Responsive, multi-section prototype website built with React, TypeScript, and Vite — designed to improve visibility, strengthen credibility, and deliver a professional digital experience.</a:t>
              </a:r>
              <a:endParaRPr b="1" sz="1600">
                <a:solidFill>
                  <a:srgbClr val="FFFFFF"/>
                </a:solidFill>
                <a:latin typeface="Roboto"/>
                <a:ea typeface="Roboto"/>
                <a:cs typeface="Roboto"/>
                <a:sym typeface="Roboto"/>
              </a:endParaRPr>
            </a:p>
            <a:p>
              <a:pPr indent="0" lvl="0" marL="0" rtl="0" algn="l">
                <a:spcBef>
                  <a:spcPts val="1200"/>
                </a:spcBef>
                <a:spcAft>
                  <a:spcPts val="0"/>
                </a:spcAft>
                <a:buNone/>
              </a:pPr>
              <a:r>
                <a:t/>
              </a:r>
              <a:endParaRPr b="1" sz="1600">
                <a:solidFill>
                  <a:srgbClr val="FFFFFF"/>
                </a:solidFill>
                <a:latin typeface="Roboto"/>
                <a:ea typeface="Roboto"/>
                <a:cs typeface="Roboto"/>
                <a:sym typeface="Roboto"/>
              </a:endParaRPr>
            </a:p>
          </p:txBody>
        </p:sp>
        <p:cxnSp>
          <p:nvCxnSpPr>
            <p:cNvPr id="248" name="Google Shape;248;g3d712f1194d_2_28"/>
            <p:cNvCxnSpPr/>
            <p:nvPr/>
          </p:nvCxnSpPr>
          <p:spPr>
            <a:xfrm>
              <a:off x="2286000" y="2295575"/>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249" name="Google Shape;249;g3d712f1194d_2_28"/>
          <p:cNvGrpSpPr/>
          <p:nvPr/>
        </p:nvGrpSpPr>
        <p:grpSpPr>
          <a:xfrm>
            <a:off x="3047925" y="2211767"/>
            <a:ext cx="3047924" cy="4648139"/>
            <a:chOff x="0" y="2295575"/>
            <a:chExt cx="2286000" cy="2847950"/>
          </a:xfrm>
        </p:grpSpPr>
        <p:grpSp>
          <p:nvGrpSpPr>
            <p:cNvPr id="250" name="Google Shape;250;g3d712f1194d_2_28"/>
            <p:cNvGrpSpPr/>
            <p:nvPr/>
          </p:nvGrpSpPr>
          <p:grpSpPr>
            <a:xfrm>
              <a:off x="0" y="2295575"/>
              <a:ext cx="2286000" cy="2847950"/>
              <a:chOff x="0" y="2295575"/>
              <a:chExt cx="2286000" cy="2847950"/>
            </a:xfrm>
          </p:grpSpPr>
          <p:sp>
            <p:nvSpPr>
              <p:cNvPr id="251" name="Google Shape;251;g3d712f1194d_2_28"/>
              <p:cNvSpPr/>
              <p:nvPr/>
            </p:nvSpPr>
            <p:spPr>
              <a:xfrm>
                <a:off x="0" y="2823925"/>
                <a:ext cx="2286000" cy="2319600"/>
              </a:xfrm>
              <a:prstGeom prst="rect">
                <a:avLst/>
              </a:prstGeom>
              <a:solidFill>
                <a:srgbClr val="83E3DA"/>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2" name="Google Shape;252;g3d712f1194d_2_28"/>
              <p:cNvSpPr/>
              <p:nvPr/>
            </p:nvSpPr>
            <p:spPr>
              <a:xfrm>
                <a:off x="0" y="2295575"/>
                <a:ext cx="2286000" cy="53700"/>
              </a:xfrm>
              <a:prstGeom prst="rect">
                <a:avLst/>
              </a:prstGeom>
              <a:solidFill>
                <a:srgbClr val="0069AB"/>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53" name="Google Shape;253;g3d712f1194d_2_28"/>
            <p:cNvSpPr txBox="1"/>
            <p:nvPr/>
          </p:nvSpPr>
          <p:spPr>
            <a:xfrm>
              <a:off x="216296" y="2441105"/>
              <a:ext cx="1531800" cy="260400"/>
            </a:xfrm>
            <a:prstGeom prst="rect">
              <a:avLst/>
            </a:prstGeom>
            <a:noFill/>
            <a:ln cap="flat" cmpd="sng" w="9525">
              <a:solidFill>
                <a:schemeClr val="dk1"/>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lang="en-US" sz="1500">
                  <a:solidFill>
                    <a:schemeClr val="dk1"/>
                  </a:solidFill>
                </a:rPr>
                <a:t>Technical Structure</a:t>
              </a:r>
              <a:endParaRPr sz="1500">
                <a:solidFill>
                  <a:schemeClr val="dk1"/>
                </a:solidFill>
              </a:endParaRPr>
            </a:p>
            <a:p>
              <a:pPr indent="0" lvl="0" marL="0" rtl="0" algn="l">
                <a:lnSpc>
                  <a:spcPct val="115000"/>
                </a:lnSpc>
                <a:spcBef>
                  <a:spcPts val="2100"/>
                </a:spcBef>
                <a:spcAft>
                  <a:spcPts val="2100"/>
                </a:spcAft>
                <a:buNone/>
              </a:pPr>
              <a:r>
                <a:t/>
              </a:r>
              <a:endParaRPr sz="1300">
                <a:solidFill>
                  <a:schemeClr val="accent1"/>
                </a:solidFill>
                <a:latin typeface="Roboto"/>
                <a:ea typeface="Roboto"/>
                <a:cs typeface="Roboto"/>
                <a:sym typeface="Roboto"/>
              </a:endParaRPr>
            </a:p>
          </p:txBody>
        </p:sp>
        <p:sp>
          <p:nvSpPr>
            <p:cNvPr id="254" name="Google Shape;254;g3d712f1194d_2_28"/>
            <p:cNvSpPr txBox="1"/>
            <p:nvPr/>
          </p:nvSpPr>
          <p:spPr>
            <a:xfrm>
              <a:off x="216362" y="2991891"/>
              <a:ext cx="1853400" cy="19530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React + TypeScript + Vite on GitHub Pages. Component-based pages: Home, About, Services, Testimonials, Blog, Contact — shared styles keep updates low-effort.</a:t>
              </a:r>
              <a:endParaRPr sz="1600">
                <a:solidFill>
                  <a:schemeClr val="dk1"/>
                </a:solidFill>
              </a:endParaRPr>
            </a:p>
            <a:p>
              <a:pPr indent="0" lvl="0" marL="0" rtl="0" algn="l">
                <a:spcBef>
                  <a:spcPts val="1200"/>
                </a:spcBef>
                <a:spcAft>
                  <a:spcPts val="0"/>
                </a:spcAft>
                <a:buClr>
                  <a:schemeClr val="dk1"/>
                </a:buClr>
                <a:buSzPts val="1100"/>
                <a:buFont typeface="Arial"/>
                <a:buNone/>
              </a:pPr>
              <a:r>
                <a:rPr lang="en-US">
                  <a:solidFill>
                    <a:schemeClr val="dk1"/>
                  </a:solidFill>
                </a:rPr>
                <a:t>    </a:t>
              </a:r>
              <a:r>
                <a:rPr lang="en-US" u="sng">
                  <a:solidFill>
                    <a:schemeClr val="hlink"/>
                  </a:solidFill>
                  <a:hlinkClick r:id="rId4"/>
                </a:rPr>
                <a:t>https://github.com/nikkiDong/EVA.git</a:t>
              </a:r>
              <a:endParaRPr sz="1200">
                <a:solidFill>
                  <a:srgbClr val="FFFFFF"/>
                </a:solidFill>
                <a:latin typeface="Roboto"/>
                <a:ea typeface="Roboto"/>
                <a:cs typeface="Roboto"/>
                <a:sym typeface="Roboto"/>
              </a:endParaRPr>
            </a:p>
          </p:txBody>
        </p:sp>
        <p:cxnSp>
          <p:nvCxnSpPr>
            <p:cNvPr id="255" name="Google Shape;255;g3d712f1194d_2_28"/>
            <p:cNvCxnSpPr/>
            <p:nvPr/>
          </p:nvCxnSpPr>
          <p:spPr>
            <a:xfrm>
              <a:off x="2286000" y="2295575"/>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256" name="Google Shape;256;g3d712f1194d_2_28"/>
          <p:cNvGrpSpPr/>
          <p:nvPr/>
        </p:nvGrpSpPr>
        <p:grpSpPr>
          <a:xfrm>
            <a:off x="6095850" y="2209154"/>
            <a:ext cx="3047924" cy="4648139"/>
            <a:chOff x="0" y="2295575"/>
            <a:chExt cx="2286000" cy="2847950"/>
          </a:xfrm>
        </p:grpSpPr>
        <p:grpSp>
          <p:nvGrpSpPr>
            <p:cNvPr id="257" name="Google Shape;257;g3d712f1194d_2_28"/>
            <p:cNvGrpSpPr/>
            <p:nvPr/>
          </p:nvGrpSpPr>
          <p:grpSpPr>
            <a:xfrm>
              <a:off x="0" y="2295575"/>
              <a:ext cx="2286000" cy="2847950"/>
              <a:chOff x="0" y="2295575"/>
              <a:chExt cx="2286000" cy="2847950"/>
            </a:xfrm>
          </p:grpSpPr>
          <p:sp>
            <p:nvSpPr>
              <p:cNvPr id="258" name="Google Shape;258;g3d712f1194d_2_28"/>
              <p:cNvSpPr/>
              <p:nvPr/>
            </p:nvSpPr>
            <p:spPr>
              <a:xfrm>
                <a:off x="0" y="2823925"/>
                <a:ext cx="2286000" cy="2319600"/>
              </a:xfrm>
              <a:prstGeom prst="rect">
                <a:avLst/>
              </a:prstGeom>
              <a:solidFill>
                <a:srgbClr val="3D8DAE"/>
              </a:solidFill>
              <a:ln cap="flat" cmpd="sng" w="9525">
                <a:solidFill>
                  <a:srgbClr val="1B786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9" name="Google Shape;259;g3d712f1194d_2_28"/>
              <p:cNvSpPr/>
              <p:nvPr/>
            </p:nvSpPr>
            <p:spPr>
              <a:xfrm>
                <a:off x="0" y="2295575"/>
                <a:ext cx="2286000" cy="53700"/>
              </a:xfrm>
              <a:prstGeom prst="rect">
                <a:avLst/>
              </a:prstGeom>
              <a:solidFill>
                <a:srgbClr val="3D8DAE"/>
              </a:solidFill>
              <a:ln cap="flat" cmpd="sng" w="9525">
                <a:solidFill>
                  <a:srgbClr val="1B786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60" name="Google Shape;260;g3d712f1194d_2_28"/>
            <p:cNvSpPr txBox="1"/>
            <p:nvPr/>
          </p:nvSpPr>
          <p:spPr>
            <a:xfrm>
              <a:off x="216296" y="2441105"/>
              <a:ext cx="1555800" cy="260400"/>
            </a:xfrm>
            <a:prstGeom prst="rect">
              <a:avLst/>
            </a:prstGeom>
            <a:noFill/>
            <a:ln cap="flat" cmpd="sng" w="9525">
              <a:solidFill>
                <a:srgbClr val="1B786F"/>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800">
                  <a:solidFill>
                    <a:schemeClr val="dk1"/>
                  </a:solidFill>
                </a:rPr>
                <a:t>Key Features</a:t>
              </a:r>
              <a:endParaRPr sz="1800">
                <a:solidFill>
                  <a:schemeClr val="dk1"/>
                </a:solidFill>
              </a:endParaRPr>
            </a:p>
          </p:txBody>
        </p:sp>
        <p:sp>
          <p:nvSpPr>
            <p:cNvPr id="261" name="Google Shape;261;g3d712f1194d_2_28"/>
            <p:cNvSpPr txBox="1"/>
            <p:nvPr/>
          </p:nvSpPr>
          <p:spPr>
            <a:xfrm>
              <a:off x="259563" y="3061179"/>
              <a:ext cx="1929000" cy="1739700"/>
            </a:xfrm>
            <a:prstGeom prst="rect">
              <a:avLst/>
            </a:prstGeom>
            <a:noFill/>
            <a:ln cap="flat" cmpd="sng" w="9525">
              <a:solidFill>
                <a:schemeClr val="lt1"/>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chemeClr val="dk1"/>
                  </a:solidFill>
                </a:rPr>
                <a:t>Responsive layout for desktop and mobile</a:t>
              </a:r>
              <a:endParaRPr b="1" sz="1300">
                <a:solidFill>
                  <a:schemeClr val="dk1"/>
                </a:solidFill>
              </a:endParaRPr>
            </a:p>
            <a:p>
              <a:pPr indent="0" lvl="0" marL="0" rtl="0" algn="l">
                <a:lnSpc>
                  <a:spcPct val="115000"/>
                </a:lnSpc>
                <a:spcBef>
                  <a:spcPts val="2100"/>
                </a:spcBef>
                <a:spcAft>
                  <a:spcPts val="0"/>
                </a:spcAft>
                <a:buClr>
                  <a:schemeClr val="dk1"/>
                </a:buClr>
                <a:buSzPts val="1100"/>
                <a:buFont typeface="Arial"/>
                <a:buNone/>
              </a:pPr>
              <a:r>
                <a:rPr b="1" lang="en-US" sz="1300">
                  <a:solidFill>
                    <a:schemeClr val="dk1"/>
                  </a:solidFill>
                </a:rPr>
                <a:t>Clear service presentation and structured content flow</a:t>
              </a:r>
              <a:endParaRPr b="1" sz="1300">
                <a:solidFill>
                  <a:schemeClr val="dk1"/>
                </a:solidFill>
              </a:endParaRPr>
            </a:p>
            <a:p>
              <a:pPr indent="0" lvl="0" marL="0" rtl="0" algn="l">
                <a:lnSpc>
                  <a:spcPct val="115000"/>
                </a:lnSpc>
                <a:spcBef>
                  <a:spcPts val="2100"/>
                </a:spcBef>
                <a:spcAft>
                  <a:spcPts val="0"/>
                </a:spcAft>
                <a:buClr>
                  <a:schemeClr val="dk1"/>
                </a:buClr>
                <a:buSzPts val="1100"/>
                <a:buFont typeface="Arial"/>
                <a:buNone/>
              </a:pPr>
              <a:r>
                <a:rPr b="1" lang="en-US" sz="1300">
                  <a:solidFill>
                    <a:schemeClr val="dk1"/>
                  </a:solidFill>
                </a:rPr>
                <a:t>Testimonials and blog sections for trust and engagement</a:t>
              </a:r>
              <a:endParaRPr b="1" sz="1300">
                <a:solidFill>
                  <a:schemeClr val="dk1"/>
                </a:solidFill>
              </a:endParaRPr>
            </a:p>
            <a:p>
              <a:pPr indent="0" lvl="0" marL="0" rtl="0" algn="l">
                <a:lnSpc>
                  <a:spcPct val="115000"/>
                </a:lnSpc>
                <a:spcBef>
                  <a:spcPts val="2100"/>
                </a:spcBef>
                <a:spcAft>
                  <a:spcPts val="0"/>
                </a:spcAft>
                <a:buClr>
                  <a:schemeClr val="dk1"/>
                </a:buClr>
                <a:buSzPts val="1100"/>
                <a:buFont typeface="Arial"/>
                <a:buNone/>
              </a:pPr>
              <a:r>
                <a:rPr b="1" lang="en-US" sz="1300">
                  <a:solidFill>
                    <a:schemeClr val="dk1"/>
                  </a:solidFill>
                </a:rPr>
                <a:t>Contact pathway for client inquiries and communication</a:t>
              </a:r>
              <a:endParaRPr b="1" sz="1300">
                <a:solidFill>
                  <a:schemeClr val="dk1"/>
                </a:solidFill>
              </a:endParaRPr>
            </a:p>
          </p:txBody>
        </p:sp>
        <p:cxnSp>
          <p:nvCxnSpPr>
            <p:cNvPr id="262" name="Google Shape;262;g3d712f1194d_2_28"/>
            <p:cNvCxnSpPr/>
            <p:nvPr/>
          </p:nvCxnSpPr>
          <p:spPr>
            <a:xfrm>
              <a:off x="2286000" y="2295575"/>
              <a:ext cx="0" cy="2837400"/>
            </a:xfrm>
            <a:prstGeom prst="straightConnector1">
              <a:avLst/>
            </a:prstGeom>
            <a:noFill/>
            <a:ln cap="flat" cmpd="sng" w="9525">
              <a:solidFill>
                <a:srgbClr val="1B786F"/>
              </a:solidFill>
              <a:prstDash val="dot"/>
              <a:round/>
              <a:headEnd len="sm" w="sm" type="none"/>
              <a:tailEnd len="sm" w="sm" type="none"/>
            </a:ln>
          </p:spPr>
        </p:cxnSp>
      </p:grpSp>
      <p:sp>
        <p:nvSpPr>
          <p:cNvPr id="263" name="Google Shape;263;g3d712f1194d_2_28"/>
          <p:cNvSpPr txBox="1"/>
          <p:nvPr/>
        </p:nvSpPr>
        <p:spPr>
          <a:xfrm>
            <a:off x="319375" y="2420475"/>
            <a:ext cx="27708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Implemented Solution</a:t>
            </a:r>
            <a:endParaRPr sz="1800"/>
          </a:p>
        </p:txBody>
      </p:sp>
      <p:grpSp>
        <p:nvGrpSpPr>
          <p:cNvPr id="264" name="Google Shape;264;g3d712f1194d_2_28"/>
          <p:cNvGrpSpPr/>
          <p:nvPr/>
        </p:nvGrpSpPr>
        <p:grpSpPr>
          <a:xfrm>
            <a:off x="9144000" y="2208308"/>
            <a:ext cx="3047924" cy="4649563"/>
            <a:chOff x="0" y="2295575"/>
            <a:chExt cx="2286000" cy="2847950"/>
          </a:xfrm>
        </p:grpSpPr>
        <p:grpSp>
          <p:nvGrpSpPr>
            <p:cNvPr id="265" name="Google Shape;265;g3d712f1194d_2_28"/>
            <p:cNvGrpSpPr/>
            <p:nvPr/>
          </p:nvGrpSpPr>
          <p:grpSpPr>
            <a:xfrm>
              <a:off x="0" y="2295575"/>
              <a:ext cx="2286000" cy="2847950"/>
              <a:chOff x="0" y="2295575"/>
              <a:chExt cx="2286000" cy="2847950"/>
            </a:xfrm>
          </p:grpSpPr>
          <p:sp>
            <p:nvSpPr>
              <p:cNvPr id="266" name="Google Shape;266;g3d712f1194d_2_28"/>
              <p:cNvSpPr/>
              <p:nvPr/>
            </p:nvSpPr>
            <p:spPr>
              <a:xfrm>
                <a:off x="0" y="2823925"/>
                <a:ext cx="22860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7" name="Google Shape;267;g3d712f1194d_2_28"/>
              <p:cNvSpPr/>
              <p:nvPr/>
            </p:nvSpPr>
            <p:spPr>
              <a:xfrm>
                <a:off x="0" y="2295575"/>
                <a:ext cx="2286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68" name="Google Shape;268;g3d712f1194d_2_28"/>
            <p:cNvSpPr txBox="1"/>
            <p:nvPr/>
          </p:nvSpPr>
          <p:spPr>
            <a:xfrm>
              <a:off x="216281" y="2441105"/>
              <a:ext cx="1853400" cy="260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500">
                  <a:solidFill>
                    <a:schemeClr val="dk1"/>
                  </a:solidFill>
                </a:rPr>
                <a:t>Challenges &amp; Execution</a:t>
              </a:r>
              <a:endParaRPr sz="1500">
                <a:solidFill>
                  <a:schemeClr val="dk1"/>
                </a:solidFill>
              </a:endParaRPr>
            </a:p>
          </p:txBody>
        </p:sp>
        <p:sp>
          <p:nvSpPr>
            <p:cNvPr id="269" name="Google Shape;269;g3d712f1194d_2_28"/>
            <p:cNvSpPr txBox="1"/>
            <p:nvPr/>
          </p:nvSpPr>
          <p:spPr>
            <a:xfrm>
              <a:off x="216305" y="3050066"/>
              <a:ext cx="1853400" cy="1857300"/>
            </a:xfrm>
            <a:prstGeom prst="rect">
              <a:avLst/>
            </a:prstGeom>
            <a:noFill/>
            <a:ln>
              <a:noFill/>
            </a:ln>
          </p:spPr>
          <p:txBody>
            <a:bodyPr anchorCtr="0" anchor="t" bIns="121900" lIns="121900" spcFirstLastPara="1" rIns="121900" wrap="square" tIns="121900">
              <a:noAutofit/>
            </a:bodyPr>
            <a:lstStyle/>
            <a:p>
              <a:pPr indent="-317500" lvl="0" marL="285750" rtl="0" algn="l">
                <a:lnSpc>
                  <a:spcPct val="115000"/>
                </a:lnSpc>
                <a:spcBef>
                  <a:spcPts val="1200"/>
                </a:spcBef>
                <a:spcAft>
                  <a:spcPts val="0"/>
                </a:spcAft>
                <a:buClr>
                  <a:schemeClr val="dk1"/>
                </a:buClr>
                <a:buSzPts val="1400"/>
                <a:buChar char="●"/>
              </a:pPr>
              <a:r>
                <a:rPr lang="en-US">
                  <a:solidFill>
                    <a:schemeClr val="dk1"/>
                  </a:solidFill>
                </a:rPr>
                <a:t>Platform strategy — shipped React/Vite prototype; recommending Squarespace for long-term client maintenance.</a:t>
              </a:r>
              <a:endParaRPr>
                <a:solidFill>
                  <a:schemeClr val="dk1"/>
                </a:solidFill>
              </a:endParaRPr>
            </a:p>
            <a:p>
              <a:pPr indent="-317500" lvl="0" marL="342900" rtl="0" algn="l">
                <a:lnSpc>
                  <a:spcPct val="115000"/>
                </a:lnSpc>
                <a:spcBef>
                  <a:spcPts val="0"/>
                </a:spcBef>
                <a:spcAft>
                  <a:spcPts val="0"/>
                </a:spcAft>
                <a:buClr>
                  <a:schemeClr val="dk1"/>
                </a:buClr>
                <a:buSzPts val="1400"/>
                <a:buChar char="●"/>
              </a:pPr>
              <a:r>
                <a:rPr lang="en-US">
                  <a:solidFill>
                    <a:schemeClr val="dk1"/>
                  </a:solidFill>
                </a:rPr>
                <a:t>Content clarity — iterated service messaging with Troy to match EVA’s premium brand voice.</a:t>
              </a:r>
              <a:endParaRPr>
                <a:solidFill>
                  <a:schemeClr val="dk1"/>
                </a:solidFill>
              </a:endParaRPr>
            </a:p>
            <a:p>
              <a:pPr indent="-317500" lvl="0" marL="285750" rtl="0" algn="l">
                <a:lnSpc>
                  <a:spcPct val="115000"/>
                </a:lnSpc>
                <a:spcBef>
                  <a:spcPts val="0"/>
                </a:spcBef>
                <a:spcAft>
                  <a:spcPts val="0"/>
                </a:spcAft>
                <a:buClr>
                  <a:schemeClr val="dk1"/>
                </a:buClr>
                <a:buSzPts val="1400"/>
                <a:buChar char="●"/>
              </a:pPr>
              <a:r>
                <a:rPr lang="en-US">
                  <a:solidFill>
                    <a:schemeClr val="dk1"/>
                  </a:solidFill>
                </a:rPr>
                <a:t>Visual consistency — shared style tokens prevent drift.</a:t>
              </a:r>
              <a:endParaRPr>
                <a:solidFill>
                  <a:schemeClr val="dk1"/>
                </a:solidFill>
              </a:endParaRPr>
            </a:p>
            <a:p>
              <a:pPr indent="0" lvl="0" marL="457200" rtl="0" algn="l">
                <a:spcBef>
                  <a:spcPts val="1200"/>
                </a:spcBef>
                <a:spcAft>
                  <a:spcPts val="0"/>
                </a:spcAft>
                <a:buNone/>
              </a:pPr>
              <a:r>
                <a:t/>
              </a:r>
              <a:endParaRPr sz="1200">
                <a:solidFill>
                  <a:srgbClr val="5E5E5E"/>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74" name="Shape 274"/>
        <p:cNvGrpSpPr/>
        <p:nvPr/>
      </p:nvGrpSpPr>
      <p:grpSpPr>
        <a:xfrm>
          <a:off x="0" y="0"/>
          <a:ext cx="0" cy="0"/>
          <a:chOff x="0" y="0"/>
          <a:chExt cx="0" cy="0"/>
        </a:xfrm>
      </p:grpSpPr>
      <p:sp>
        <p:nvSpPr>
          <p:cNvPr id="275" name="Google Shape;275;g3d712f1194d_2_36"/>
          <p:cNvSpPr/>
          <p:nvPr/>
        </p:nvSpPr>
        <p:spPr>
          <a:xfrm>
            <a:off x="0" y="0"/>
            <a:ext cx="12161400" cy="54900"/>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76" name="Google Shape;276;g3d712f1194d_2_36"/>
          <p:cNvPicPr preferRelativeResize="0"/>
          <p:nvPr/>
        </p:nvPicPr>
        <p:blipFill rotWithShape="1">
          <a:blip r:embed="rId3">
            <a:alphaModFix/>
          </a:blip>
          <a:srcRect b="0" l="0" r="0" t="0"/>
          <a:stretch/>
        </p:blipFill>
        <p:spPr>
          <a:xfrm>
            <a:off x="11247120" y="182880"/>
            <a:ext cx="594360" cy="594360"/>
          </a:xfrm>
          <a:prstGeom prst="rect">
            <a:avLst/>
          </a:prstGeom>
          <a:noFill/>
          <a:ln>
            <a:noFill/>
          </a:ln>
        </p:spPr>
      </p:pic>
      <p:sp>
        <p:nvSpPr>
          <p:cNvPr id="277" name="Google Shape;277;g3d712f1194d_2_36"/>
          <p:cNvSpPr/>
          <p:nvPr/>
        </p:nvSpPr>
        <p:spPr>
          <a:xfrm>
            <a:off x="10789920" y="6446520"/>
            <a:ext cx="10974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7 / 10</a:t>
            </a:r>
            <a:endParaRPr b="0" i="0" sz="900" u="none" cap="none" strike="noStrike">
              <a:solidFill>
                <a:schemeClr val="dk1"/>
              </a:solidFill>
              <a:latin typeface="Calibri"/>
              <a:ea typeface="Calibri"/>
              <a:cs typeface="Calibri"/>
              <a:sym typeface="Calibri"/>
            </a:endParaRPr>
          </a:p>
        </p:txBody>
      </p:sp>
      <p:sp>
        <p:nvSpPr>
          <p:cNvPr id="278" name="Google Shape;278;g3d712f1194d_2_36"/>
          <p:cNvSpPr/>
          <p:nvPr/>
        </p:nvSpPr>
        <p:spPr>
          <a:xfrm>
            <a:off x="548640" y="274320"/>
            <a:ext cx="9144000" cy="594300"/>
          </a:xfrm>
          <a:prstGeom prst="rect">
            <a:avLst/>
          </a:prstGeom>
          <a:noFill/>
          <a:ln>
            <a:noFill/>
          </a:ln>
        </p:spPr>
        <p:txBody>
          <a:bodyPr anchorCtr="0" anchor="ctr" bIns="0" lIns="0" spcFirstLastPara="1" rIns="0" wrap="square" tIns="0">
            <a:noAutofit/>
          </a:bodyPr>
          <a:lstStyle/>
          <a:p>
            <a:pPr indent="0" lvl="0" marL="0" rtl="0" algn="l">
              <a:lnSpc>
                <a:spcPct val="140017"/>
              </a:lnSpc>
              <a:spcBef>
                <a:spcPts val="0"/>
              </a:spcBef>
              <a:spcAft>
                <a:spcPts val="0"/>
              </a:spcAft>
              <a:buClr>
                <a:schemeClr val="dk1"/>
              </a:buClr>
              <a:buFont typeface="Arial"/>
              <a:buNone/>
            </a:pPr>
            <a:r>
              <a:rPr b="1" lang="en-US" sz="3000">
                <a:solidFill>
                  <a:schemeClr val="dk1"/>
                </a:solidFill>
                <a:latin typeface="Calibri"/>
                <a:ea typeface="Calibri"/>
                <a:cs typeface="Calibri"/>
                <a:sym typeface="Calibri"/>
              </a:rPr>
              <a:t>Live Demo (Nikki)</a:t>
            </a:r>
            <a:endParaRPr b="1" sz="3000">
              <a:solidFill>
                <a:srgbClr val="1A1A2E"/>
              </a:solidFill>
              <a:latin typeface="Calibri"/>
              <a:ea typeface="Calibri"/>
              <a:cs typeface="Calibri"/>
              <a:sym typeface="Calibri"/>
            </a:endParaRPr>
          </a:p>
        </p:txBody>
      </p:sp>
      <p:pic>
        <p:nvPicPr>
          <p:cNvPr id="279" name="Google Shape;279;g3d712f1194d_2_36"/>
          <p:cNvPicPr preferRelativeResize="0"/>
          <p:nvPr/>
        </p:nvPicPr>
        <p:blipFill>
          <a:blip r:embed="rId4">
            <a:alphaModFix/>
          </a:blip>
          <a:stretch>
            <a:fillRect/>
          </a:stretch>
        </p:blipFill>
        <p:spPr>
          <a:xfrm>
            <a:off x="1308550" y="868625"/>
            <a:ext cx="9766723" cy="5379325"/>
          </a:xfrm>
          <a:prstGeom prst="rect">
            <a:avLst/>
          </a:prstGeom>
          <a:noFill/>
          <a:ln>
            <a:noFill/>
          </a:ln>
        </p:spPr>
      </p:pic>
      <p:sp>
        <p:nvSpPr>
          <p:cNvPr id="280" name="Google Shape;280;g3d712f1194d_2_36"/>
          <p:cNvSpPr txBox="1"/>
          <p:nvPr/>
        </p:nvSpPr>
        <p:spPr>
          <a:xfrm>
            <a:off x="1308550" y="628962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u="sng">
                <a:solidFill>
                  <a:schemeClr val="hlink"/>
                </a:solidFill>
                <a:hlinkClick r:id="rId5"/>
              </a:rPr>
              <a:t>https://nikkidong.github.io/</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85" name="Shape 285"/>
        <p:cNvGrpSpPr/>
        <p:nvPr/>
      </p:nvGrpSpPr>
      <p:grpSpPr>
        <a:xfrm>
          <a:off x="0" y="0"/>
          <a:ext cx="0" cy="0"/>
          <a:chOff x="0" y="0"/>
          <a:chExt cx="0" cy="0"/>
        </a:xfrm>
      </p:grpSpPr>
      <p:sp>
        <p:nvSpPr>
          <p:cNvPr id="286" name="Google Shape;286;g3976ff9710b_1_4"/>
          <p:cNvSpPr/>
          <p:nvPr/>
        </p:nvSpPr>
        <p:spPr>
          <a:xfrm>
            <a:off x="0" y="0"/>
            <a:ext cx="12161400" cy="54900"/>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7" name="Google Shape;287;g3976ff9710b_1_4"/>
          <p:cNvPicPr preferRelativeResize="0"/>
          <p:nvPr/>
        </p:nvPicPr>
        <p:blipFill rotWithShape="1">
          <a:blip r:embed="rId3">
            <a:alphaModFix/>
          </a:blip>
          <a:srcRect b="0" l="0" r="0" t="0"/>
          <a:stretch/>
        </p:blipFill>
        <p:spPr>
          <a:xfrm>
            <a:off x="11247120" y="182880"/>
            <a:ext cx="594360" cy="594360"/>
          </a:xfrm>
          <a:prstGeom prst="rect">
            <a:avLst/>
          </a:prstGeom>
          <a:noFill/>
          <a:ln>
            <a:noFill/>
          </a:ln>
        </p:spPr>
      </p:pic>
      <p:sp>
        <p:nvSpPr>
          <p:cNvPr id="288" name="Google Shape;288;g3976ff9710b_1_4"/>
          <p:cNvSpPr/>
          <p:nvPr/>
        </p:nvSpPr>
        <p:spPr>
          <a:xfrm>
            <a:off x="10789958" y="4916245"/>
            <a:ext cx="10974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9 / 10</a:t>
            </a:r>
            <a:endParaRPr b="0" i="0" sz="900" u="none" cap="none" strike="noStrike">
              <a:solidFill>
                <a:schemeClr val="dk1"/>
              </a:solidFill>
              <a:latin typeface="Calibri"/>
              <a:ea typeface="Calibri"/>
              <a:cs typeface="Calibri"/>
              <a:sym typeface="Calibri"/>
            </a:endParaRPr>
          </a:p>
        </p:txBody>
      </p:sp>
      <p:sp>
        <p:nvSpPr>
          <p:cNvPr id="289" name="Google Shape;289;g3976ff9710b_1_4"/>
          <p:cNvSpPr/>
          <p:nvPr/>
        </p:nvSpPr>
        <p:spPr>
          <a:xfrm>
            <a:off x="548640" y="274320"/>
            <a:ext cx="9144000" cy="594300"/>
          </a:xfrm>
          <a:prstGeom prst="rect">
            <a:avLst/>
          </a:prstGeom>
          <a:noFill/>
          <a:ln>
            <a:noFill/>
          </a:ln>
        </p:spPr>
        <p:txBody>
          <a:bodyPr anchorCtr="0" anchor="ctr" bIns="0" lIns="0" spcFirstLastPara="1" rIns="0" wrap="square" tIns="0">
            <a:noAutofit/>
          </a:bodyPr>
          <a:lstStyle/>
          <a:p>
            <a:pPr indent="0" lvl="0" marL="0" rtl="0" algn="l">
              <a:lnSpc>
                <a:spcPct val="140017"/>
              </a:lnSpc>
              <a:spcBef>
                <a:spcPts val="0"/>
              </a:spcBef>
              <a:spcAft>
                <a:spcPts val="0"/>
              </a:spcAft>
              <a:buClr>
                <a:schemeClr val="dk1"/>
              </a:buClr>
              <a:buFont typeface="Arial"/>
              <a:buNone/>
            </a:pPr>
            <a:r>
              <a:rPr b="1" lang="en-US" sz="2000">
                <a:solidFill>
                  <a:schemeClr val="dk1"/>
                </a:solidFill>
                <a:latin typeface="Calibri"/>
                <a:ea typeface="Calibri"/>
                <a:cs typeface="Calibri"/>
                <a:sym typeface="Calibri"/>
              </a:rPr>
              <a:t>FUTURE ROADMAP &amp; HANDOFF (Shah)</a:t>
            </a:r>
            <a:endParaRPr b="1" sz="3000">
              <a:solidFill>
                <a:srgbClr val="1A1A2E"/>
              </a:solidFill>
              <a:latin typeface="Calibri"/>
              <a:ea typeface="Calibri"/>
              <a:cs typeface="Calibri"/>
              <a:sym typeface="Calibri"/>
            </a:endParaRPr>
          </a:p>
        </p:txBody>
      </p:sp>
      <p:sp>
        <p:nvSpPr>
          <p:cNvPr id="290" name="Google Shape;290;g3976ff9710b_1_4"/>
          <p:cNvSpPr txBox="1"/>
          <p:nvPr/>
        </p:nvSpPr>
        <p:spPr>
          <a:xfrm>
            <a:off x="548688" y="4611875"/>
            <a:ext cx="704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https://docs.google.com/document/d/1pRTx7SAHvkRElRwNqvwGYUS7p8oUE9sD/edit</a:t>
            </a:r>
            <a:endParaRPr/>
          </a:p>
        </p:txBody>
      </p:sp>
      <p:sp>
        <p:nvSpPr>
          <p:cNvPr id="291" name="Google Shape;291;g3976ff9710b_1_4"/>
          <p:cNvSpPr txBox="1"/>
          <p:nvPr/>
        </p:nvSpPr>
        <p:spPr>
          <a:xfrm>
            <a:off x="846713" y="3673125"/>
            <a:ext cx="1547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User manual</a:t>
            </a:r>
            <a:endParaRPr/>
          </a:p>
          <a:p>
            <a:pPr indent="0" lvl="0" marL="0" rtl="0" algn="l">
              <a:spcBef>
                <a:spcPts val="0"/>
              </a:spcBef>
              <a:spcAft>
                <a:spcPts val="0"/>
              </a:spcAft>
              <a:buNone/>
            </a:pPr>
            <a:r>
              <a:t/>
            </a:r>
            <a:endParaRPr/>
          </a:p>
        </p:txBody>
      </p:sp>
      <p:grpSp>
        <p:nvGrpSpPr>
          <p:cNvPr id="292" name="Google Shape;292;g3976ff9710b_1_4"/>
          <p:cNvGrpSpPr/>
          <p:nvPr/>
        </p:nvGrpSpPr>
        <p:grpSpPr>
          <a:xfrm>
            <a:off x="9144050" y="1530417"/>
            <a:ext cx="3047924" cy="4648139"/>
            <a:chOff x="0" y="2295575"/>
            <a:chExt cx="2286000" cy="2847950"/>
          </a:xfrm>
        </p:grpSpPr>
        <p:grpSp>
          <p:nvGrpSpPr>
            <p:cNvPr id="293" name="Google Shape;293;g3976ff9710b_1_4"/>
            <p:cNvGrpSpPr/>
            <p:nvPr/>
          </p:nvGrpSpPr>
          <p:grpSpPr>
            <a:xfrm>
              <a:off x="0" y="2295575"/>
              <a:ext cx="2286000" cy="2847950"/>
              <a:chOff x="0" y="2295575"/>
              <a:chExt cx="2286000" cy="2847950"/>
            </a:xfrm>
          </p:grpSpPr>
          <p:sp>
            <p:nvSpPr>
              <p:cNvPr id="294" name="Google Shape;294;g3976ff9710b_1_4"/>
              <p:cNvSpPr/>
              <p:nvPr/>
            </p:nvSpPr>
            <p:spPr>
              <a:xfrm>
                <a:off x="0" y="2823925"/>
                <a:ext cx="22860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5" name="Google Shape;295;g3976ff9710b_1_4"/>
              <p:cNvSpPr/>
              <p:nvPr/>
            </p:nvSpPr>
            <p:spPr>
              <a:xfrm>
                <a:off x="0" y="2295575"/>
                <a:ext cx="2286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96" name="Google Shape;296;g3976ff9710b_1_4"/>
            <p:cNvSpPr txBox="1"/>
            <p:nvPr/>
          </p:nvSpPr>
          <p:spPr>
            <a:xfrm>
              <a:off x="216296" y="2441105"/>
              <a:ext cx="1361100" cy="260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300">
                  <a:solidFill>
                    <a:srgbClr val="5E5E5E"/>
                  </a:solidFill>
                  <a:latin typeface="Roboto"/>
                  <a:ea typeface="Roboto"/>
                  <a:cs typeface="Roboto"/>
                  <a:sym typeface="Roboto"/>
                </a:rPr>
                <a:t>Handoff Deliverables </a:t>
              </a:r>
              <a:endParaRPr sz="1300">
                <a:solidFill>
                  <a:srgbClr val="5E5E5E"/>
                </a:solidFill>
                <a:latin typeface="Roboto"/>
                <a:ea typeface="Roboto"/>
                <a:cs typeface="Roboto"/>
                <a:sym typeface="Roboto"/>
              </a:endParaRPr>
            </a:p>
          </p:txBody>
        </p:sp>
        <p:sp>
          <p:nvSpPr>
            <p:cNvPr id="297" name="Google Shape;297;g3976ff9710b_1_4"/>
            <p:cNvSpPr txBox="1"/>
            <p:nvPr/>
          </p:nvSpPr>
          <p:spPr>
            <a:xfrm>
              <a:off x="216300" y="3037796"/>
              <a:ext cx="1853400" cy="9960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5E5E5E"/>
                  </a:solidFill>
                  <a:latin typeface="Roboto"/>
                  <a:ea typeface="Roboto"/>
                  <a:cs typeface="Roboto"/>
                  <a:sym typeface="Roboto"/>
                </a:rPr>
                <a:t>GitHub repository with full source code and deploy pipeline</a:t>
              </a:r>
              <a:endParaRPr sz="1200">
                <a:solidFill>
                  <a:srgbClr val="5E5E5E"/>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5E5E5E"/>
                  </a:solidFill>
                  <a:latin typeface="Roboto"/>
                  <a:ea typeface="Roboto"/>
                  <a:cs typeface="Roboto"/>
                  <a:sym typeface="Roboto"/>
                </a:rPr>
                <a:t>Live React/TypeScript/Vite prototype hosted on GitHub Pages</a:t>
              </a:r>
              <a:endParaRPr sz="1200">
                <a:solidFill>
                  <a:srgbClr val="5E5E5E"/>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5E5E5E"/>
                  </a:solidFill>
                  <a:latin typeface="Roboto"/>
                  <a:ea typeface="Roboto"/>
                  <a:cs typeface="Roboto"/>
                  <a:sym typeface="Roboto"/>
                </a:rPr>
                <a:t>Component-based structure for low-effort content updates</a:t>
              </a:r>
              <a:endParaRPr sz="1200">
                <a:solidFill>
                  <a:srgbClr val="5E5E5E"/>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5E5E5E"/>
                  </a:solidFill>
                  <a:latin typeface="Roboto"/>
                  <a:ea typeface="Roboto"/>
                  <a:cs typeface="Roboto"/>
                  <a:sym typeface="Roboto"/>
                </a:rPr>
                <a:t>User Manual, Execution Plan, and Content Questionnaire for the EVA team</a:t>
              </a:r>
              <a:endParaRPr sz="1200">
                <a:solidFill>
                  <a:srgbClr val="5E5E5E"/>
                </a:solidFill>
                <a:latin typeface="Roboto"/>
                <a:ea typeface="Roboto"/>
                <a:cs typeface="Roboto"/>
                <a:sym typeface="Roboto"/>
              </a:endParaRPr>
            </a:p>
            <a:p>
              <a:pPr indent="0" lvl="0" marL="0" rtl="0" algn="l">
                <a:lnSpc>
                  <a:spcPct val="115000"/>
                </a:lnSpc>
                <a:spcBef>
                  <a:spcPts val="2100"/>
                </a:spcBef>
                <a:spcAft>
                  <a:spcPts val="2100"/>
                </a:spcAft>
                <a:buNone/>
              </a:pPr>
              <a:r>
                <a:t/>
              </a:r>
              <a:endParaRPr sz="1200">
                <a:solidFill>
                  <a:srgbClr val="5E5E5E"/>
                </a:solidFill>
                <a:latin typeface="Roboto"/>
                <a:ea typeface="Roboto"/>
                <a:cs typeface="Roboto"/>
                <a:sym typeface="Roboto"/>
              </a:endParaRPr>
            </a:p>
          </p:txBody>
        </p:sp>
      </p:grpSp>
      <p:grpSp>
        <p:nvGrpSpPr>
          <p:cNvPr id="298" name="Google Shape;298;g3976ff9710b_1_4"/>
          <p:cNvGrpSpPr/>
          <p:nvPr/>
        </p:nvGrpSpPr>
        <p:grpSpPr>
          <a:xfrm>
            <a:off x="6096050" y="1530417"/>
            <a:ext cx="3047924" cy="4648139"/>
            <a:chOff x="0" y="2295575"/>
            <a:chExt cx="2286000" cy="2847950"/>
          </a:xfrm>
        </p:grpSpPr>
        <p:grpSp>
          <p:nvGrpSpPr>
            <p:cNvPr id="299" name="Google Shape;299;g3976ff9710b_1_4"/>
            <p:cNvGrpSpPr/>
            <p:nvPr/>
          </p:nvGrpSpPr>
          <p:grpSpPr>
            <a:xfrm>
              <a:off x="0" y="2295575"/>
              <a:ext cx="2286000" cy="2847950"/>
              <a:chOff x="0" y="2295575"/>
              <a:chExt cx="2286000" cy="2847950"/>
            </a:xfrm>
          </p:grpSpPr>
          <p:sp>
            <p:nvSpPr>
              <p:cNvPr id="300" name="Google Shape;300;g3976ff9710b_1_4"/>
              <p:cNvSpPr/>
              <p:nvPr/>
            </p:nvSpPr>
            <p:spPr>
              <a:xfrm>
                <a:off x="0" y="2823925"/>
                <a:ext cx="22860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1" name="Google Shape;301;g3976ff9710b_1_4"/>
              <p:cNvSpPr/>
              <p:nvPr/>
            </p:nvSpPr>
            <p:spPr>
              <a:xfrm>
                <a:off x="0" y="2295575"/>
                <a:ext cx="2286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02" name="Google Shape;302;g3976ff9710b_1_4"/>
            <p:cNvSpPr txBox="1"/>
            <p:nvPr/>
          </p:nvSpPr>
          <p:spPr>
            <a:xfrm>
              <a:off x="216296" y="2441105"/>
              <a:ext cx="1555800" cy="260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300">
                  <a:solidFill>
                    <a:srgbClr val="5E5E5E"/>
                  </a:solidFill>
                  <a:latin typeface="Roboto"/>
                  <a:ea typeface="Roboto"/>
                  <a:cs typeface="Roboto"/>
                  <a:sym typeface="Roboto"/>
                </a:rPr>
                <a:t>Long Term Opportunities </a:t>
              </a:r>
              <a:endParaRPr sz="1300">
                <a:solidFill>
                  <a:srgbClr val="5E5E5E"/>
                </a:solidFill>
                <a:latin typeface="Roboto"/>
                <a:ea typeface="Roboto"/>
                <a:cs typeface="Roboto"/>
                <a:sym typeface="Roboto"/>
              </a:endParaRPr>
            </a:p>
          </p:txBody>
        </p:sp>
        <p:sp>
          <p:nvSpPr>
            <p:cNvPr id="303" name="Google Shape;303;g3976ff9710b_1_4"/>
            <p:cNvSpPr txBox="1"/>
            <p:nvPr/>
          </p:nvSpPr>
          <p:spPr>
            <a:xfrm>
              <a:off x="259558" y="3061185"/>
              <a:ext cx="1853400" cy="9960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5E5E5E"/>
                  </a:solidFill>
                  <a:latin typeface="Roboto"/>
                  <a:ea typeface="Roboto"/>
                  <a:cs typeface="Roboto"/>
                  <a:sym typeface="Roboto"/>
                </a:rPr>
                <a:t>Launch membership or client portal functionality</a:t>
              </a:r>
              <a:endParaRPr sz="1200">
                <a:solidFill>
                  <a:srgbClr val="5E5E5E"/>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5E5E5E"/>
                  </a:solidFill>
                  <a:latin typeface="Roboto"/>
                  <a:ea typeface="Roboto"/>
                  <a:cs typeface="Roboto"/>
                  <a:sym typeface="Roboto"/>
                </a:rPr>
                <a:t>Add e commerce/payment workflows for events, products, or digital offerings</a:t>
              </a:r>
              <a:endParaRPr sz="1200">
                <a:solidFill>
                  <a:srgbClr val="5E5E5E"/>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5E5E5E"/>
                  </a:solidFill>
                  <a:latin typeface="Roboto"/>
                  <a:ea typeface="Roboto"/>
                  <a:cs typeface="Roboto"/>
                  <a:sym typeface="Roboto"/>
                </a:rPr>
                <a:t>Integrate resource hub, session recordings, and client progress tracking</a:t>
              </a:r>
              <a:endParaRPr sz="1200">
                <a:solidFill>
                  <a:srgbClr val="5E5E5E"/>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5E5E5E"/>
                  </a:solidFill>
                  <a:latin typeface="Roboto"/>
                  <a:ea typeface="Roboto"/>
                  <a:cs typeface="Roboto"/>
                  <a:sym typeface="Roboto"/>
                </a:rPr>
                <a:t>Scale the platform into a more complete coaching ecosystem</a:t>
              </a:r>
              <a:endParaRPr sz="1200">
                <a:solidFill>
                  <a:srgbClr val="5E5E5E"/>
                </a:solidFill>
                <a:latin typeface="Roboto"/>
                <a:ea typeface="Roboto"/>
                <a:cs typeface="Roboto"/>
                <a:sym typeface="Roboto"/>
              </a:endParaRPr>
            </a:p>
            <a:p>
              <a:pPr indent="0" lvl="0" marL="0" rtl="0" algn="l">
                <a:lnSpc>
                  <a:spcPct val="115000"/>
                </a:lnSpc>
                <a:spcBef>
                  <a:spcPts val="2100"/>
                </a:spcBef>
                <a:spcAft>
                  <a:spcPts val="2100"/>
                </a:spcAft>
                <a:buNone/>
              </a:pPr>
              <a:r>
                <a:t/>
              </a:r>
              <a:endParaRPr sz="1200">
                <a:solidFill>
                  <a:srgbClr val="5E5E5E"/>
                </a:solidFill>
                <a:latin typeface="Roboto"/>
                <a:ea typeface="Roboto"/>
                <a:cs typeface="Roboto"/>
                <a:sym typeface="Roboto"/>
              </a:endParaRPr>
            </a:p>
          </p:txBody>
        </p:sp>
        <p:cxnSp>
          <p:nvCxnSpPr>
            <p:cNvPr id="304" name="Google Shape;304;g3976ff9710b_1_4"/>
            <p:cNvCxnSpPr/>
            <p:nvPr/>
          </p:nvCxnSpPr>
          <p:spPr>
            <a:xfrm>
              <a:off x="2286000" y="2295575"/>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305" name="Google Shape;305;g3976ff9710b_1_4"/>
          <p:cNvGrpSpPr/>
          <p:nvPr/>
        </p:nvGrpSpPr>
        <p:grpSpPr>
          <a:xfrm>
            <a:off x="3047975" y="1530517"/>
            <a:ext cx="3047924" cy="4648139"/>
            <a:chOff x="0" y="2295575"/>
            <a:chExt cx="2286000" cy="2847950"/>
          </a:xfrm>
        </p:grpSpPr>
        <p:grpSp>
          <p:nvGrpSpPr>
            <p:cNvPr id="306" name="Google Shape;306;g3976ff9710b_1_4"/>
            <p:cNvGrpSpPr/>
            <p:nvPr/>
          </p:nvGrpSpPr>
          <p:grpSpPr>
            <a:xfrm>
              <a:off x="0" y="2295575"/>
              <a:ext cx="2286000" cy="2847950"/>
              <a:chOff x="0" y="2295575"/>
              <a:chExt cx="2286000" cy="2847950"/>
            </a:xfrm>
          </p:grpSpPr>
          <p:sp>
            <p:nvSpPr>
              <p:cNvPr id="307" name="Google Shape;307;g3976ff9710b_1_4"/>
              <p:cNvSpPr/>
              <p:nvPr/>
            </p:nvSpPr>
            <p:spPr>
              <a:xfrm>
                <a:off x="0" y="2823925"/>
                <a:ext cx="2286000" cy="2319600"/>
              </a:xfrm>
              <a:prstGeom prst="rect">
                <a:avLst/>
              </a:prstGeom>
              <a:solidFill>
                <a:srgbClr val="0069AB"/>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8" name="Google Shape;308;g3976ff9710b_1_4"/>
              <p:cNvSpPr/>
              <p:nvPr/>
            </p:nvSpPr>
            <p:spPr>
              <a:xfrm>
                <a:off x="0" y="2295575"/>
                <a:ext cx="2286000" cy="53700"/>
              </a:xfrm>
              <a:prstGeom prst="rect">
                <a:avLst/>
              </a:prstGeom>
              <a:solidFill>
                <a:srgbClr val="0069AB"/>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09" name="Google Shape;309;g3976ff9710b_1_4"/>
            <p:cNvSpPr txBox="1"/>
            <p:nvPr/>
          </p:nvSpPr>
          <p:spPr>
            <a:xfrm>
              <a:off x="216296" y="2441105"/>
              <a:ext cx="1531800" cy="260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300">
                  <a:solidFill>
                    <a:schemeClr val="accent1"/>
                  </a:solidFill>
                  <a:latin typeface="Roboto"/>
                  <a:ea typeface="Roboto"/>
                  <a:cs typeface="Roboto"/>
                  <a:sym typeface="Roboto"/>
                </a:rPr>
                <a:t>Mid-Term Enhancements</a:t>
              </a:r>
              <a:endParaRPr sz="1300">
                <a:solidFill>
                  <a:schemeClr val="accent1"/>
                </a:solidFill>
                <a:latin typeface="Roboto"/>
                <a:ea typeface="Roboto"/>
                <a:cs typeface="Roboto"/>
                <a:sym typeface="Roboto"/>
              </a:endParaRPr>
            </a:p>
          </p:txBody>
        </p:sp>
        <p:sp>
          <p:nvSpPr>
            <p:cNvPr id="310" name="Google Shape;310;g3976ff9710b_1_4"/>
            <p:cNvSpPr txBox="1"/>
            <p:nvPr/>
          </p:nvSpPr>
          <p:spPr>
            <a:xfrm>
              <a:off x="216357" y="2991892"/>
              <a:ext cx="1853400" cy="9960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rgbClr val="FFFFFF"/>
                  </a:solidFill>
                  <a:latin typeface="Roboto"/>
                  <a:ea typeface="Roboto"/>
                  <a:cs typeface="Roboto"/>
                  <a:sym typeface="Roboto"/>
                </a:rPr>
                <a:t>Expand blog and case study library for stronger SEO and credibility</a:t>
              </a:r>
              <a:endParaRPr sz="1200">
                <a:solidFill>
                  <a:srgbClr val="FFFFFF"/>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FFFFFF"/>
                  </a:solidFill>
                  <a:latin typeface="Roboto"/>
                  <a:ea typeface="Roboto"/>
                  <a:cs typeface="Roboto"/>
                  <a:sym typeface="Roboto"/>
                </a:rPr>
                <a:t>Add deeper service comparison and clearer client self-qualification flows</a:t>
              </a:r>
              <a:endParaRPr sz="1200">
                <a:solidFill>
                  <a:srgbClr val="FFFFFF"/>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FFFFFF"/>
                  </a:solidFill>
                  <a:latin typeface="Roboto"/>
                  <a:ea typeface="Roboto"/>
                  <a:cs typeface="Roboto"/>
                  <a:sym typeface="Roboto"/>
                </a:rPr>
                <a:t>Strengthen lead capture with CRM or email automation integration</a:t>
              </a:r>
              <a:endParaRPr sz="1200">
                <a:solidFill>
                  <a:srgbClr val="FFFFFF"/>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FFFFFF"/>
                  </a:solidFill>
                  <a:latin typeface="Roboto"/>
                  <a:ea typeface="Roboto"/>
                  <a:cs typeface="Roboto"/>
                  <a:sym typeface="Roboto"/>
                </a:rPr>
                <a:t>Refine calls to action based on user behavior and engagement data</a:t>
              </a:r>
              <a:endParaRPr sz="1200">
                <a:solidFill>
                  <a:srgbClr val="FFFFFF"/>
                </a:solidFill>
                <a:latin typeface="Roboto"/>
                <a:ea typeface="Roboto"/>
                <a:cs typeface="Roboto"/>
                <a:sym typeface="Roboto"/>
              </a:endParaRPr>
            </a:p>
            <a:p>
              <a:pPr indent="0" lvl="0" marL="0" rtl="0" algn="l">
                <a:lnSpc>
                  <a:spcPct val="115000"/>
                </a:lnSpc>
                <a:spcBef>
                  <a:spcPts val="2100"/>
                </a:spcBef>
                <a:spcAft>
                  <a:spcPts val="2100"/>
                </a:spcAft>
                <a:buNone/>
              </a:pPr>
              <a:r>
                <a:t/>
              </a:r>
              <a:endParaRPr sz="1200">
                <a:solidFill>
                  <a:srgbClr val="FFFFFF"/>
                </a:solidFill>
                <a:latin typeface="Roboto"/>
                <a:ea typeface="Roboto"/>
                <a:cs typeface="Roboto"/>
                <a:sym typeface="Roboto"/>
              </a:endParaRPr>
            </a:p>
          </p:txBody>
        </p:sp>
        <p:cxnSp>
          <p:nvCxnSpPr>
            <p:cNvPr id="311" name="Google Shape;311;g3976ff9710b_1_4"/>
            <p:cNvCxnSpPr/>
            <p:nvPr/>
          </p:nvCxnSpPr>
          <p:spPr>
            <a:xfrm>
              <a:off x="2286000" y="2295575"/>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312" name="Google Shape;312;g3976ff9710b_1_4"/>
          <p:cNvGrpSpPr/>
          <p:nvPr/>
        </p:nvGrpSpPr>
        <p:grpSpPr>
          <a:xfrm>
            <a:off x="50" y="1530636"/>
            <a:ext cx="3047924" cy="4648139"/>
            <a:chOff x="0" y="2295575"/>
            <a:chExt cx="2286000" cy="2847950"/>
          </a:xfrm>
        </p:grpSpPr>
        <p:grpSp>
          <p:nvGrpSpPr>
            <p:cNvPr id="313" name="Google Shape;313;g3976ff9710b_1_4"/>
            <p:cNvGrpSpPr/>
            <p:nvPr/>
          </p:nvGrpSpPr>
          <p:grpSpPr>
            <a:xfrm>
              <a:off x="0" y="2295575"/>
              <a:ext cx="2286000" cy="2847950"/>
              <a:chOff x="0" y="2295575"/>
              <a:chExt cx="2286000" cy="2847950"/>
            </a:xfrm>
          </p:grpSpPr>
          <p:sp>
            <p:nvSpPr>
              <p:cNvPr id="314" name="Google Shape;314;g3976ff9710b_1_4"/>
              <p:cNvSpPr/>
              <p:nvPr/>
            </p:nvSpPr>
            <p:spPr>
              <a:xfrm>
                <a:off x="0" y="2823925"/>
                <a:ext cx="2286000" cy="2319600"/>
              </a:xfrm>
              <a:prstGeom prst="rect">
                <a:avLst/>
              </a:prstGeom>
              <a:solidFill>
                <a:srgbClr val="0069AB"/>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5" name="Google Shape;315;g3976ff9710b_1_4"/>
              <p:cNvSpPr/>
              <p:nvPr/>
            </p:nvSpPr>
            <p:spPr>
              <a:xfrm>
                <a:off x="0" y="2295575"/>
                <a:ext cx="2286000" cy="53700"/>
              </a:xfrm>
              <a:prstGeom prst="rect">
                <a:avLst/>
              </a:prstGeom>
              <a:solidFill>
                <a:srgbClr val="0069AB"/>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16" name="Google Shape;316;g3976ff9710b_1_4"/>
            <p:cNvSpPr txBox="1"/>
            <p:nvPr/>
          </p:nvSpPr>
          <p:spPr>
            <a:xfrm>
              <a:off x="375909" y="2456399"/>
              <a:ext cx="1534200" cy="260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None/>
              </a:pPr>
              <a:r>
                <a:rPr lang="en-US" sz="1300">
                  <a:solidFill>
                    <a:schemeClr val="accent1"/>
                  </a:solidFill>
                  <a:latin typeface="Roboto"/>
                  <a:ea typeface="Roboto"/>
                  <a:cs typeface="Roboto"/>
                  <a:sym typeface="Roboto"/>
                </a:rPr>
                <a:t>Next Steps </a:t>
              </a:r>
              <a:endParaRPr sz="1300">
                <a:solidFill>
                  <a:schemeClr val="accent1"/>
                </a:solidFill>
                <a:latin typeface="Roboto"/>
                <a:ea typeface="Roboto"/>
                <a:cs typeface="Roboto"/>
                <a:sym typeface="Roboto"/>
              </a:endParaRPr>
            </a:p>
          </p:txBody>
        </p:sp>
        <p:sp>
          <p:nvSpPr>
            <p:cNvPr id="317" name="Google Shape;317;g3976ff9710b_1_4"/>
            <p:cNvSpPr txBox="1"/>
            <p:nvPr/>
          </p:nvSpPr>
          <p:spPr>
            <a:xfrm>
              <a:off x="216296" y="2940119"/>
              <a:ext cx="1853400" cy="990300"/>
            </a:xfrm>
            <a:prstGeom prst="rect">
              <a:avLst/>
            </a:prstGeom>
            <a:solidFill>
              <a:srgbClr val="0069AB"/>
            </a:solid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lang="en-US" sz="1200">
                  <a:solidFill>
                    <a:srgbClr val="FFFFFF"/>
                  </a:solidFill>
                  <a:latin typeface="Roboto"/>
                  <a:ea typeface="Roboto"/>
                  <a:cs typeface="Roboto"/>
                  <a:sym typeface="Roboto"/>
                </a:rPr>
                <a:t>Migrate prototype to Squarespace for client-maintainable production hosting</a:t>
              </a:r>
              <a:endParaRPr sz="1200">
                <a:solidFill>
                  <a:srgbClr val="FFFFFF"/>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FFFFFF"/>
                  </a:solidFill>
                  <a:latin typeface="Roboto"/>
                  <a:ea typeface="Roboto"/>
                  <a:cs typeface="Roboto"/>
                  <a:sym typeface="Roboto"/>
                </a:rPr>
                <a:t>Finalize real content, testimonials, and client imagery; replace placeholders</a:t>
              </a:r>
              <a:endParaRPr sz="1200">
                <a:solidFill>
                  <a:srgbClr val="FFFFFF"/>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lang="en-US" sz="1200">
                  <a:solidFill>
                    <a:srgbClr val="FFFFFF"/>
                  </a:solidFill>
                  <a:latin typeface="Roboto"/>
                  <a:ea typeface="Roboto"/>
                  <a:cs typeface="Roboto"/>
                  <a:sym typeface="Roboto"/>
                </a:rPr>
                <a:t>Connect Mailchimp for Connect form and CEO Visionary Waitlist signups</a:t>
              </a:r>
              <a:endParaRPr sz="1200">
                <a:solidFill>
                  <a:srgbClr val="FFFFFF"/>
                </a:solidFill>
                <a:latin typeface="Roboto"/>
                <a:ea typeface="Roboto"/>
                <a:cs typeface="Roboto"/>
                <a:sym typeface="Roboto"/>
              </a:endParaRPr>
            </a:p>
            <a:p>
              <a:pPr indent="0" lvl="0" marL="0" rtl="0" algn="l">
                <a:lnSpc>
                  <a:spcPct val="115000"/>
                </a:lnSpc>
                <a:spcBef>
                  <a:spcPts val="2100"/>
                </a:spcBef>
                <a:spcAft>
                  <a:spcPts val="2100"/>
                </a:spcAft>
                <a:buNone/>
              </a:pPr>
              <a:r>
                <a:rPr lang="en-US" sz="1200">
                  <a:solidFill>
                    <a:srgbClr val="FFFFFF"/>
                  </a:solidFill>
                  <a:latin typeface="Roboto"/>
                  <a:ea typeface="Roboto"/>
                  <a:cs typeface="Roboto"/>
                  <a:sym typeface="Roboto"/>
                </a:rPr>
                <a:t>Add confidentiality disclaimer, configure custom domain, and enable analytics</a:t>
              </a:r>
              <a:endParaRPr sz="1200">
                <a:solidFill>
                  <a:srgbClr val="FFFFFF"/>
                </a:solidFill>
                <a:latin typeface="Roboto"/>
                <a:ea typeface="Roboto"/>
                <a:cs typeface="Roboto"/>
                <a:sym typeface="Roboto"/>
              </a:endParaRPr>
            </a:p>
          </p:txBody>
        </p:sp>
        <p:cxnSp>
          <p:nvCxnSpPr>
            <p:cNvPr id="318" name="Google Shape;318;g3976ff9710b_1_4"/>
            <p:cNvCxnSpPr/>
            <p:nvPr/>
          </p:nvCxnSpPr>
          <p:spPr>
            <a:xfrm>
              <a:off x="2286000" y="2295575"/>
              <a:ext cx="0" cy="2837400"/>
            </a:xfrm>
            <a:prstGeom prst="straightConnector1">
              <a:avLst/>
            </a:prstGeom>
            <a:noFill/>
            <a:ln cap="flat" cmpd="sng" w="9525">
              <a:solidFill>
                <a:srgbClr val="83E3DA"/>
              </a:solidFill>
              <a:prstDash val="dot"/>
              <a:round/>
              <a:headEnd len="sm" w="sm" type="none"/>
              <a:tailEnd len="sm" w="sm" type="none"/>
            </a:ln>
          </p:spPr>
        </p:cxn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323" name="Shape 323"/>
        <p:cNvGrpSpPr/>
        <p:nvPr/>
      </p:nvGrpSpPr>
      <p:grpSpPr>
        <a:xfrm>
          <a:off x="0" y="0"/>
          <a:ext cx="0" cy="0"/>
          <a:chOff x="0" y="0"/>
          <a:chExt cx="0" cy="0"/>
        </a:xfrm>
      </p:grpSpPr>
      <p:sp>
        <p:nvSpPr>
          <p:cNvPr id="324" name="Google Shape;324;g3976ff9710b_1_12"/>
          <p:cNvSpPr/>
          <p:nvPr/>
        </p:nvSpPr>
        <p:spPr>
          <a:xfrm>
            <a:off x="0" y="0"/>
            <a:ext cx="12161400" cy="54900"/>
          </a:xfrm>
          <a:prstGeom prst="rect">
            <a:avLst/>
          </a:prstGeom>
          <a:solidFill>
            <a:srgbClr val="4E6E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5" name="Google Shape;325;g3976ff9710b_1_12"/>
          <p:cNvPicPr preferRelativeResize="0"/>
          <p:nvPr/>
        </p:nvPicPr>
        <p:blipFill rotWithShape="1">
          <a:blip r:embed="rId3">
            <a:alphaModFix/>
          </a:blip>
          <a:srcRect b="0" l="0" r="0" t="0"/>
          <a:stretch/>
        </p:blipFill>
        <p:spPr>
          <a:xfrm>
            <a:off x="11247120" y="182880"/>
            <a:ext cx="594360" cy="594360"/>
          </a:xfrm>
          <a:prstGeom prst="rect">
            <a:avLst/>
          </a:prstGeom>
          <a:noFill/>
          <a:ln>
            <a:noFill/>
          </a:ln>
        </p:spPr>
      </p:pic>
      <p:sp>
        <p:nvSpPr>
          <p:cNvPr id="326" name="Google Shape;326;g3976ff9710b_1_12"/>
          <p:cNvSpPr/>
          <p:nvPr/>
        </p:nvSpPr>
        <p:spPr>
          <a:xfrm>
            <a:off x="10789920" y="6446520"/>
            <a:ext cx="10974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8 / 10</a:t>
            </a:r>
            <a:endParaRPr b="0" i="0" sz="900" u="none" cap="none" strike="noStrike">
              <a:solidFill>
                <a:schemeClr val="dk1"/>
              </a:solidFill>
              <a:latin typeface="Calibri"/>
              <a:ea typeface="Calibri"/>
              <a:cs typeface="Calibri"/>
              <a:sym typeface="Calibri"/>
            </a:endParaRPr>
          </a:p>
        </p:txBody>
      </p:sp>
      <p:sp>
        <p:nvSpPr>
          <p:cNvPr id="327" name="Google Shape;327;g3976ff9710b_1_12"/>
          <p:cNvSpPr/>
          <p:nvPr/>
        </p:nvSpPr>
        <p:spPr>
          <a:xfrm>
            <a:off x="548640" y="274320"/>
            <a:ext cx="9144000" cy="594300"/>
          </a:xfrm>
          <a:prstGeom prst="rect">
            <a:avLst/>
          </a:prstGeom>
          <a:noFill/>
          <a:ln>
            <a:noFill/>
          </a:ln>
        </p:spPr>
        <p:txBody>
          <a:bodyPr anchorCtr="0" anchor="ctr" bIns="0" lIns="0" spcFirstLastPara="1" rIns="0" wrap="square" tIns="0">
            <a:noAutofit/>
          </a:bodyPr>
          <a:lstStyle/>
          <a:p>
            <a:pPr indent="0" lvl="0" marL="0" rtl="0" algn="l">
              <a:lnSpc>
                <a:spcPct val="140017"/>
              </a:lnSpc>
              <a:spcBef>
                <a:spcPts val="0"/>
              </a:spcBef>
              <a:spcAft>
                <a:spcPts val="0"/>
              </a:spcAft>
              <a:buClr>
                <a:schemeClr val="dk1"/>
              </a:buClr>
              <a:buFont typeface="Arial"/>
              <a:buNone/>
            </a:pPr>
            <a:r>
              <a:rPr b="1" lang="en-US" sz="3000">
                <a:solidFill>
                  <a:schemeClr val="dk1"/>
                </a:solidFill>
                <a:latin typeface="Calibri"/>
                <a:ea typeface="Calibri"/>
                <a:cs typeface="Calibri"/>
                <a:sym typeface="Calibri"/>
              </a:rPr>
              <a:t>Results</a:t>
            </a:r>
            <a:r>
              <a:rPr b="1" lang="en-US" sz="3000">
                <a:solidFill>
                  <a:schemeClr val="dk1"/>
                </a:solidFill>
                <a:latin typeface="Calibri"/>
                <a:ea typeface="Calibri"/>
                <a:cs typeface="Calibri"/>
                <a:sym typeface="Calibri"/>
              </a:rPr>
              <a:t> and Impact (Shah)</a:t>
            </a:r>
            <a:endParaRPr b="1" sz="3000">
              <a:solidFill>
                <a:srgbClr val="1A1A2E"/>
              </a:solidFill>
              <a:latin typeface="Calibri"/>
              <a:ea typeface="Calibri"/>
              <a:cs typeface="Calibri"/>
              <a:sym typeface="Calibri"/>
            </a:endParaRPr>
          </a:p>
        </p:txBody>
      </p:sp>
      <p:grpSp>
        <p:nvGrpSpPr>
          <p:cNvPr id="328" name="Google Shape;328;g3976ff9710b_1_12"/>
          <p:cNvGrpSpPr/>
          <p:nvPr/>
        </p:nvGrpSpPr>
        <p:grpSpPr>
          <a:xfrm>
            <a:off x="8050561" y="2990275"/>
            <a:ext cx="3800191" cy="3153121"/>
            <a:chOff x="6038025" y="2124014"/>
            <a:chExt cx="2475694" cy="2364900"/>
          </a:xfrm>
        </p:grpSpPr>
        <p:cxnSp>
          <p:nvCxnSpPr>
            <p:cNvPr id="329" name="Google Shape;329;g3976ff9710b_1_12"/>
            <p:cNvCxnSpPr/>
            <p:nvPr/>
          </p:nvCxnSpPr>
          <p:spPr>
            <a:xfrm>
              <a:off x="6038025" y="3312550"/>
              <a:ext cx="582000" cy="0"/>
            </a:xfrm>
            <a:prstGeom prst="straightConnector1">
              <a:avLst/>
            </a:prstGeom>
            <a:noFill/>
            <a:ln cap="flat" cmpd="sng" w="9525">
              <a:solidFill>
                <a:srgbClr val="C2C2C2"/>
              </a:solidFill>
              <a:prstDash val="solid"/>
              <a:round/>
              <a:headEnd len="sm" w="sm" type="none"/>
              <a:tailEnd len="sm" w="sm" type="none"/>
            </a:ln>
          </p:spPr>
        </p:cxnSp>
        <p:sp>
          <p:nvSpPr>
            <p:cNvPr id="330" name="Google Shape;330;g3976ff9710b_1_12"/>
            <p:cNvSpPr txBox="1"/>
            <p:nvPr/>
          </p:nvSpPr>
          <p:spPr>
            <a:xfrm>
              <a:off x="6646519" y="2124014"/>
              <a:ext cx="1867200" cy="23649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1600">
                  <a:latin typeface="Roboto"/>
                  <a:ea typeface="Roboto"/>
                  <a:cs typeface="Roboto"/>
                  <a:sym typeface="Roboto"/>
                </a:rPr>
                <a:t>Deliverables</a:t>
              </a:r>
              <a:endParaRPr b="1" sz="1600">
                <a:latin typeface="Roboto"/>
                <a:ea typeface="Roboto"/>
                <a:cs typeface="Roboto"/>
                <a:sym typeface="Roboto"/>
              </a:endParaRPr>
            </a:p>
            <a:p>
              <a:pPr indent="0" lvl="0" marL="0" rtl="0" algn="l">
                <a:spcBef>
                  <a:spcPts val="0"/>
                </a:spcBef>
                <a:spcAft>
                  <a:spcPts val="0"/>
                </a:spcAft>
                <a:buNone/>
              </a:pPr>
              <a:r>
                <a:t/>
              </a:r>
              <a:endParaRPr b="1" sz="1600">
                <a:latin typeface="Roboto"/>
                <a:ea typeface="Roboto"/>
                <a:cs typeface="Roboto"/>
                <a:sym typeface="Roboto"/>
              </a:endParaRPr>
            </a:p>
            <a:p>
              <a:pPr indent="0" lvl="0" marL="0" rtl="0" algn="l">
                <a:spcBef>
                  <a:spcPts val="0"/>
                </a:spcBef>
                <a:spcAft>
                  <a:spcPts val="0"/>
                </a:spcAft>
                <a:buNone/>
              </a:pPr>
              <a:r>
                <a:rPr lang="en-US"/>
                <a:t>GitHub repo + live React/TS/Vite prototype at nikkidong.github.io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EVA User Manual, Execution Plan, and Content Questionnaire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Component-based architecture for easy evolution or Squarespace migration</a:t>
              </a:r>
              <a:endParaRPr sz="1100">
                <a:latin typeface="Roboto"/>
                <a:ea typeface="Roboto"/>
                <a:cs typeface="Roboto"/>
                <a:sym typeface="Roboto"/>
              </a:endParaRPr>
            </a:p>
            <a:p>
              <a:pPr indent="0" lvl="0" marL="0" rtl="0" algn="l">
                <a:spcBef>
                  <a:spcPts val="0"/>
                </a:spcBef>
                <a:spcAft>
                  <a:spcPts val="2100"/>
                </a:spcAft>
                <a:buNone/>
              </a:pPr>
              <a:r>
                <a:t/>
              </a:r>
              <a:endParaRPr sz="1100">
                <a:latin typeface="Roboto"/>
                <a:ea typeface="Roboto"/>
                <a:cs typeface="Roboto"/>
                <a:sym typeface="Roboto"/>
              </a:endParaRPr>
            </a:p>
          </p:txBody>
        </p:sp>
        <p:sp>
          <p:nvSpPr>
            <p:cNvPr id="331" name="Google Shape;331;g3976ff9710b_1_12"/>
            <p:cNvSpPr/>
            <p:nvPr/>
          </p:nvSpPr>
          <p:spPr>
            <a:xfrm>
              <a:off x="6424027" y="3212150"/>
              <a:ext cx="198600" cy="198300"/>
            </a:xfrm>
            <a:prstGeom prst="ellipse">
              <a:avLst/>
            </a:prstGeom>
            <a:solidFill>
              <a:srgbClr val="9325A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2" name="Google Shape;332;g3976ff9710b_1_12"/>
            <p:cNvSpPr txBox="1"/>
            <p:nvPr/>
          </p:nvSpPr>
          <p:spPr>
            <a:xfrm>
              <a:off x="6399017" y="3156109"/>
              <a:ext cx="247500" cy="312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2100"/>
                </a:spcAft>
                <a:buNone/>
              </a:pPr>
              <a:r>
                <a:rPr lang="en-US" sz="1100">
                  <a:solidFill>
                    <a:srgbClr val="FFFFFF"/>
                  </a:solidFill>
                  <a:latin typeface="Roboto"/>
                  <a:ea typeface="Roboto"/>
                  <a:cs typeface="Roboto"/>
                  <a:sym typeface="Roboto"/>
                </a:rPr>
                <a:t>3</a:t>
              </a:r>
              <a:endParaRPr sz="1100">
                <a:solidFill>
                  <a:srgbClr val="FFFFFF"/>
                </a:solidFill>
                <a:latin typeface="Roboto"/>
                <a:ea typeface="Roboto"/>
                <a:cs typeface="Roboto"/>
                <a:sym typeface="Roboto"/>
              </a:endParaRPr>
            </a:p>
          </p:txBody>
        </p:sp>
      </p:grpSp>
      <p:grpSp>
        <p:nvGrpSpPr>
          <p:cNvPr id="333" name="Google Shape;333;g3976ff9710b_1_12"/>
          <p:cNvGrpSpPr/>
          <p:nvPr/>
        </p:nvGrpSpPr>
        <p:grpSpPr>
          <a:xfrm>
            <a:off x="848400" y="1663037"/>
            <a:ext cx="3992872" cy="3531928"/>
            <a:chOff x="636321" y="1612286"/>
            <a:chExt cx="2994729" cy="1568700"/>
          </a:xfrm>
        </p:grpSpPr>
        <p:sp>
          <p:nvSpPr>
            <p:cNvPr id="334" name="Google Shape;334;g3976ff9710b_1_12"/>
            <p:cNvSpPr txBox="1"/>
            <p:nvPr/>
          </p:nvSpPr>
          <p:spPr>
            <a:xfrm>
              <a:off x="636321" y="1612286"/>
              <a:ext cx="1867200" cy="15687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1600">
                  <a:latin typeface="Roboto"/>
                  <a:ea typeface="Roboto"/>
                  <a:cs typeface="Roboto"/>
                  <a:sym typeface="Roboto"/>
                </a:rPr>
                <a:t>Client Feedback &amp; Business Impact</a:t>
              </a:r>
              <a:endParaRPr b="1" sz="1600">
                <a:latin typeface="Roboto"/>
                <a:ea typeface="Roboto"/>
                <a:cs typeface="Roboto"/>
                <a:sym typeface="Roboto"/>
              </a:endParaRPr>
            </a:p>
            <a:p>
              <a:pPr indent="0" lvl="0" marL="0" rtl="0" algn="r">
                <a:spcBef>
                  <a:spcPts val="0"/>
                </a:spcBef>
                <a:spcAft>
                  <a:spcPts val="0"/>
                </a:spcAft>
                <a:buNone/>
              </a:pPr>
              <a:r>
                <a:t/>
              </a:r>
              <a:endParaRPr b="1" sz="1600">
                <a:latin typeface="Roboto"/>
                <a:ea typeface="Roboto"/>
                <a:cs typeface="Roboto"/>
                <a:sym typeface="Roboto"/>
              </a:endParaRPr>
            </a:p>
            <a:p>
              <a:pPr indent="0" lvl="0" marL="0" rtl="0" algn="l">
                <a:spcBef>
                  <a:spcPts val="0"/>
                </a:spcBef>
                <a:spcAft>
                  <a:spcPts val="0"/>
                </a:spcAft>
                <a:buNone/>
              </a:pPr>
              <a:r>
                <a:rPr lang="en-US"/>
                <a:t>Client feedback from Troy on the prototype: “Great work.”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Stronger first impression that builds trust and supports future client acquisition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Clearer path to Contact; SEO foundation for future lead capture</a:t>
              </a:r>
              <a:endParaRPr sz="1100">
                <a:latin typeface="Roboto"/>
                <a:ea typeface="Roboto"/>
                <a:cs typeface="Roboto"/>
                <a:sym typeface="Roboto"/>
              </a:endParaRPr>
            </a:p>
            <a:p>
              <a:pPr indent="0" lvl="0" marL="0" rtl="0" algn="r">
                <a:spcBef>
                  <a:spcPts val="0"/>
                </a:spcBef>
                <a:spcAft>
                  <a:spcPts val="2100"/>
                </a:spcAft>
                <a:buNone/>
              </a:pPr>
              <a:r>
                <a:rPr lang="en-US" sz="1100">
                  <a:latin typeface="Roboto"/>
                  <a:ea typeface="Roboto"/>
                  <a:cs typeface="Roboto"/>
                  <a:sym typeface="Roboto"/>
                </a:rPr>
                <a:t>.</a:t>
              </a:r>
              <a:endParaRPr b="1" sz="1100">
                <a:latin typeface="Roboto"/>
                <a:ea typeface="Roboto"/>
                <a:cs typeface="Roboto"/>
                <a:sym typeface="Roboto"/>
              </a:endParaRPr>
            </a:p>
          </p:txBody>
        </p:sp>
        <p:cxnSp>
          <p:nvCxnSpPr>
            <p:cNvPr id="335" name="Google Shape;335;g3976ff9710b_1_12"/>
            <p:cNvCxnSpPr/>
            <p:nvPr/>
          </p:nvCxnSpPr>
          <p:spPr>
            <a:xfrm rot="10800000">
              <a:off x="2587350" y="2536350"/>
              <a:ext cx="1043700" cy="0"/>
            </a:xfrm>
            <a:prstGeom prst="straightConnector1">
              <a:avLst/>
            </a:prstGeom>
            <a:noFill/>
            <a:ln cap="flat" cmpd="sng" w="9525">
              <a:solidFill>
                <a:srgbClr val="C2C2C2"/>
              </a:solidFill>
              <a:prstDash val="solid"/>
              <a:round/>
              <a:headEnd len="sm" w="sm" type="none"/>
              <a:tailEnd len="sm" w="sm" type="none"/>
            </a:ln>
          </p:spPr>
        </p:cxnSp>
        <p:sp>
          <p:nvSpPr>
            <p:cNvPr id="336" name="Google Shape;336;g3976ff9710b_1_12"/>
            <p:cNvSpPr/>
            <p:nvPr/>
          </p:nvSpPr>
          <p:spPr>
            <a:xfrm>
              <a:off x="2523501" y="2431050"/>
              <a:ext cx="198600" cy="198300"/>
            </a:xfrm>
            <a:prstGeom prst="ellipse">
              <a:avLst/>
            </a:prstGeom>
            <a:solidFill>
              <a:srgbClr val="771E8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7" name="Google Shape;337;g3976ff9710b_1_12"/>
            <p:cNvSpPr txBox="1"/>
            <p:nvPr/>
          </p:nvSpPr>
          <p:spPr>
            <a:xfrm>
              <a:off x="2499053" y="2431043"/>
              <a:ext cx="247500" cy="312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2100"/>
                </a:spcAft>
                <a:buNone/>
              </a:pPr>
              <a:r>
                <a:rPr lang="en-US" sz="1100">
                  <a:solidFill>
                    <a:srgbClr val="FFFFFF"/>
                  </a:solidFill>
                  <a:latin typeface="Roboto"/>
                  <a:ea typeface="Roboto"/>
                  <a:cs typeface="Roboto"/>
                  <a:sym typeface="Roboto"/>
                </a:rPr>
                <a:t>2</a:t>
              </a:r>
              <a:endParaRPr sz="1100">
                <a:solidFill>
                  <a:srgbClr val="FFFFFF"/>
                </a:solidFill>
                <a:latin typeface="Roboto"/>
                <a:ea typeface="Roboto"/>
                <a:cs typeface="Roboto"/>
                <a:sym typeface="Roboto"/>
              </a:endParaRPr>
            </a:p>
          </p:txBody>
        </p:sp>
      </p:grpSp>
      <p:grpSp>
        <p:nvGrpSpPr>
          <p:cNvPr id="338" name="Google Shape;338;g3976ff9710b_1_12"/>
          <p:cNvGrpSpPr/>
          <p:nvPr/>
        </p:nvGrpSpPr>
        <p:grpSpPr>
          <a:xfrm>
            <a:off x="6520895" y="1006463"/>
            <a:ext cx="4799328" cy="1845954"/>
            <a:chOff x="4908100" y="889950"/>
            <a:chExt cx="3599586" cy="1384500"/>
          </a:xfrm>
        </p:grpSpPr>
        <p:cxnSp>
          <p:nvCxnSpPr>
            <p:cNvPr id="339" name="Google Shape;339;g3976ff9710b_1_12"/>
            <p:cNvCxnSpPr/>
            <p:nvPr/>
          </p:nvCxnSpPr>
          <p:spPr>
            <a:xfrm>
              <a:off x="4908100" y="1593250"/>
              <a:ext cx="1715100" cy="0"/>
            </a:xfrm>
            <a:prstGeom prst="straightConnector1">
              <a:avLst/>
            </a:prstGeom>
            <a:noFill/>
            <a:ln cap="flat" cmpd="sng" w="9525">
              <a:solidFill>
                <a:srgbClr val="C2C2C2"/>
              </a:solidFill>
              <a:prstDash val="solid"/>
              <a:round/>
              <a:headEnd len="sm" w="sm" type="none"/>
              <a:tailEnd len="sm" w="sm" type="none"/>
            </a:ln>
          </p:spPr>
        </p:cxnSp>
        <p:sp>
          <p:nvSpPr>
            <p:cNvPr id="340" name="Google Shape;340;g3976ff9710b_1_12"/>
            <p:cNvSpPr txBox="1"/>
            <p:nvPr/>
          </p:nvSpPr>
          <p:spPr>
            <a:xfrm>
              <a:off x="6640486" y="889950"/>
              <a:ext cx="1867200" cy="1384500"/>
            </a:xfrm>
            <a:prstGeom prst="rect">
              <a:avLst/>
            </a:prstGeom>
            <a:no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1600">
                  <a:latin typeface="Roboto"/>
                  <a:ea typeface="Roboto"/>
                  <a:cs typeface="Roboto"/>
                  <a:sym typeface="Roboto"/>
                </a:rPr>
                <a:t>Success Criteria: Target vs. Delivered</a:t>
              </a:r>
              <a:endParaRPr b="1" sz="1600">
                <a:latin typeface="Roboto"/>
                <a:ea typeface="Roboto"/>
                <a:cs typeface="Roboto"/>
                <a:sym typeface="Roboto"/>
              </a:endParaRPr>
            </a:p>
            <a:p>
              <a:pPr indent="0" lvl="0" marL="0" rtl="0" algn="l">
                <a:spcBef>
                  <a:spcPts val="0"/>
                </a:spcBef>
                <a:spcAft>
                  <a:spcPts val="0"/>
                </a:spcAft>
                <a:buNone/>
              </a:pPr>
              <a:r>
                <a:t/>
              </a:r>
              <a:endParaRPr b="1" sz="1600">
                <a:latin typeface="Roboto"/>
                <a:ea typeface="Roboto"/>
                <a:cs typeface="Roboto"/>
                <a:sym typeface="Roboto"/>
              </a:endParaRPr>
            </a:p>
            <a:p>
              <a:pPr indent="0" lvl="0" marL="0" rtl="0" algn="l">
                <a:spcBef>
                  <a:spcPts val="0"/>
                </a:spcBef>
                <a:spcAft>
                  <a:spcPts val="0"/>
                </a:spcAft>
                <a:buNone/>
              </a:pPr>
              <a:r>
                <a:rPr lang="en-US"/>
                <a:t>All four criteria met at handoff: SEO-ready structure, clear CTAs with Contact in two clicks, responsive sub-3s loads, premium-brand design signed off by EVA.</a:t>
              </a:r>
              <a:endParaRPr b="1" sz="1100">
                <a:latin typeface="Roboto"/>
                <a:ea typeface="Roboto"/>
                <a:cs typeface="Roboto"/>
                <a:sym typeface="Roboto"/>
              </a:endParaRPr>
            </a:p>
          </p:txBody>
        </p:sp>
        <p:sp>
          <p:nvSpPr>
            <p:cNvPr id="341" name="Google Shape;341;g3976ff9710b_1_12"/>
            <p:cNvSpPr/>
            <p:nvPr/>
          </p:nvSpPr>
          <p:spPr>
            <a:xfrm>
              <a:off x="6427830" y="1493307"/>
              <a:ext cx="198600" cy="198300"/>
            </a:xfrm>
            <a:prstGeom prst="ellipse">
              <a:avLst/>
            </a:prstGeom>
            <a:solidFill>
              <a:srgbClr val="701C7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2" name="Google Shape;342;g3976ff9710b_1_12"/>
            <p:cNvSpPr txBox="1"/>
            <p:nvPr/>
          </p:nvSpPr>
          <p:spPr>
            <a:xfrm>
              <a:off x="6402820" y="1436790"/>
              <a:ext cx="247500" cy="312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2100"/>
                </a:spcAft>
                <a:buNone/>
              </a:pPr>
              <a:r>
                <a:rPr lang="en-US" sz="1100">
                  <a:solidFill>
                    <a:srgbClr val="FFFFFF"/>
                  </a:solidFill>
                  <a:latin typeface="Roboto"/>
                  <a:ea typeface="Roboto"/>
                  <a:cs typeface="Roboto"/>
                  <a:sym typeface="Roboto"/>
                </a:rPr>
                <a:t>1</a:t>
              </a:r>
              <a:endParaRPr sz="1100">
                <a:solidFill>
                  <a:srgbClr val="FFFFFF"/>
                </a:solidFill>
                <a:latin typeface="Roboto"/>
                <a:ea typeface="Roboto"/>
                <a:cs typeface="Roboto"/>
                <a:sym typeface="Roboto"/>
              </a:endParaRPr>
            </a:p>
          </p:txBody>
        </p:sp>
      </p:grpSp>
      <p:grpSp>
        <p:nvGrpSpPr>
          <p:cNvPr id="343" name="Google Shape;343;g3976ff9710b_1_12"/>
          <p:cNvGrpSpPr/>
          <p:nvPr/>
        </p:nvGrpSpPr>
        <p:grpSpPr>
          <a:xfrm>
            <a:off x="3752692" y="1260962"/>
            <a:ext cx="4686298" cy="4335895"/>
            <a:chOff x="2991269" y="1153325"/>
            <a:chExt cx="3514811" cy="3252003"/>
          </a:xfrm>
        </p:grpSpPr>
        <p:sp>
          <p:nvSpPr>
            <p:cNvPr id="344" name="Google Shape;344;g3976ff9710b_1_12"/>
            <p:cNvSpPr/>
            <p:nvPr/>
          </p:nvSpPr>
          <p:spPr>
            <a:xfrm>
              <a:off x="3477586" y="2585458"/>
              <a:ext cx="2541910" cy="950456"/>
            </a:xfrm>
            <a:custGeom>
              <a:rect b="b" l="l" r="r" t="t"/>
              <a:pathLst>
                <a:path extrusionOk="0" h="43529" w="126826">
                  <a:moveTo>
                    <a:pt x="0" y="20002"/>
                  </a:moveTo>
                  <a:lnTo>
                    <a:pt x="63389" y="43529"/>
                  </a:lnTo>
                  <a:lnTo>
                    <a:pt x="126826" y="19907"/>
                  </a:lnTo>
                  <a:lnTo>
                    <a:pt x="63580" y="0"/>
                  </a:lnTo>
                  <a:close/>
                </a:path>
              </a:pathLst>
            </a:custGeom>
            <a:solidFill>
              <a:srgbClr val="D9D9D9"/>
            </a:solidFill>
            <a:ln>
              <a:noFill/>
            </a:ln>
          </p:spPr>
        </p:sp>
        <p:sp>
          <p:nvSpPr>
            <p:cNvPr id="345" name="Google Shape;345;g3976ff9710b_1_12"/>
            <p:cNvSpPr/>
            <p:nvPr/>
          </p:nvSpPr>
          <p:spPr>
            <a:xfrm>
              <a:off x="2991269"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561561"/>
            </a:solidFill>
            <a:ln>
              <a:noFill/>
            </a:ln>
          </p:spPr>
        </p:sp>
        <p:sp>
          <p:nvSpPr>
            <p:cNvPr id="346" name="Google Shape;346;g3976ff9710b_1_12"/>
            <p:cNvSpPr/>
            <p:nvPr/>
          </p:nvSpPr>
          <p:spPr>
            <a:xfrm flipH="1">
              <a:off x="4747852" y="3020977"/>
              <a:ext cx="1758228" cy="1384350"/>
            </a:xfrm>
            <a:custGeom>
              <a:rect b="b" l="l" r="r" t="t"/>
              <a:pathLst>
                <a:path extrusionOk="0" h="63817" w="87725">
                  <a:moveTo>
                    <a:pt x="24288" y="0"/>
                  </a:moveTo>
                  <a:lnTo>
                    <a:pt x="0" y="29908"/>
                  </a:lnTo>
                  <a:lnTo>
                    <a:pt x="87725" y="63817"/>
                  </a:lnTo>
                  <a:lnTo>
                    <a:pt x="87725" y="42291"/>
                  </a:lnTo>
                  <a:lnTo>
                    <a:pt x="87725" y="23526"/>
                  </a:lnTo>
                  <a:close/>
                </a:path>
              </a:pathLst>
            </a:custGeom>
            <a:solidFill>
              <a:srgbClr val="9325A5"/>
            </a:solidFill>
            <a:ln>
              <a:noFill/>
            </a:ln>
          </p:spPr>
        </p:sp>
        <p:sp>
          <p:nvSpPr>
            <p:cNvPr id="347" name="Google Shape;347;g3976ff9710b_1_12"/>
            <p:cNvSpPr/>
            <p:nvPr/>
          </p:nvSpPr>
          <p:spPr>
            <a:xfrm>
              <a:off x="3969199" y="2001324"/>
              <a:ext cx="1565850" cy="585863"/>
            </a:xfrm>
            <a:custGeom>
              <a:rect b="b" l="l" r="r" t="t"/>
              <a:pathLst>
                <a:path extrusionOk="0" h="8150" w="24053">
                  <a:moveTo>
                    <a:pt x="0" y="3827"/>
                  </a:moveTo>
                  <a:lnTo>
                    <a:pt x="11976" y="8150"/>
                  </a:lnTo>
                  <a:lnTo>
                    <a:pt x="24053" y="3827"/>
                  </a:lnTo>
                  <a:lnTo>
                    <a:pt x="12126" y="0"/>
                  </a:lnTo>
                  <a:close/>
                </a:path>
              </a:pathLst>
            </a:custGeom>
            <a:solidFill>
              <a:srgbClr val="D9D9D9"/>
            </a:solidFill>
            <a:ln>
              <a:noFill/>
            </a:ln>
          </p:spPr>
        </p:sp>
        <p:sp>
          <p:nvSpPr>
            <p:cNvPr id="348" name="Google Shape;348;g3976ff9710b_1_12"/>
            <p:cNvSpPr/>
            <p:nvPr/>
          </p:nvSpPr>
          <p:spPr>
            <a:xfrm>
              <a:off x="356325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561561"/>
            </a:solidFill>
            <a:ln>
              <a:noFill/>
            </a:ln>
          </p:spPr>
        </p:sp>
        <p:sp>
          <p:nvSpPr>
            <p:cNvPr id="349" name="Google Shape;349;g3976ff9710b_1_12"/>
            <p:cNvSpPr/>
            <p:nvPr/>
          </p:nvSpPr>
          <p:spPr>
            <a:xfrm flipH="1">
              <a:off x="4749365" y="2275837"/>
              <a:ext cx="1189300" cy="1015326"/>
            </a:xfrm>
            <a:custGeom>
              <a:rect b="b" l="l" r="r" t="t"/>
              <a:pathLst>
                <a:path extrusionOk="0" h="14114" w="18238">
                  <a:moveTo>
                    <a:pt x="6262" y="0"/>
                  </a:moveTo>
                  <a:lnTo>
                    <a:pt x="18238" y="4324"/>
                  </a:lnTo>
                  <a:lnTo>
                    <a:pt x="18238" y="14114"/>
                  </a:lnTo>
                  <a:lnTo>
                    <a:pt x="0" y="7554"/>
                  </a:lnTo>
                  <a:close/>
                </a:path>
              </a:pathLst>
            </a:custGeom>
            <a:solidFill>
              <a:srgbClr val="771E86"/>
            </a:solidFill>
            <a:ln>
              <a:noFill/>
            </a:ln>
          </p:spPr>
        </p:sp>
        <p:sp>
          <p:nvSpPr>
            <p:cNvPr id="350" name="Google Shape;350;g3976ff9710b_1_12"/>
            <p:cNvSpPr/>
            <p:nvPr/>
          </p:nvSpPr>
          <p:spPr>
            <a:xfrm>
              <a:off x="4059061" y="1153325"/>
              <a:ext cx="693508" cy="1201140"/>
            </a:xfrm>
            <a:custGeom>
              <a:rect b="b" l="l" r="r" t="t"/>
              <a:pathLst>
                <a:path extrusionOk="0" h="16697" w="10635">
                  <a:moveTo>
                    <a:pt x="10635" y="0"/>
                  </a:moveTo>
                  <a:lnTo>
                    <a:pt x="0" y="12722"/>
                  </a:lnTo>
                  <a:lnTo>
                    <a:pt x="10635" y="16697"/>
                  </a:lnTo>
                  <a:close/>
                </a:path>
              </a:pathLst>
            </a:custGeom>
            <a:solidFill>
              <a:srgbClr val="561561"/>
            </a:solidFill>
            <a:ln>
              <a:noFill/>
            </a:ln>
          </p:spPr>
        </p:sp>
        <p:sp>
          <p:nvSpPr>
            <p:cNvPr id="351" name="Google Shape;351;g3976ff9710b_1_12"/>
            <p:cNvSpPr/>
            <p:nvPr/>
          </p:nvSpPr>
          <p:spPr>
            <a:xfrm flipH="1">
              <a:off x="4749350" y="1153325"/>
              <a:ext cx="693508" cy="1201140"/>
            </a:xfrm>
            <a:custGeom>
              <a:rect b="b" l="l" r="r" t="t"/>
              <a:pathLst>
                <a:path extrusionOk="0" h="16697" w="10635">
                  <a:moveTo>
                    <a:pt x="10635" y="0"/>
                  </a:moveTo>
                  <a:lnTo>
                    <a:pt x="0" y="12722"/>
                  </a:lnTo>
                  <a:lnTo>
                    <a:pt x="10635" y="16697"/>
                  </a:lnTo>
                  <a:close/>
                </a:path>
              </a:pathLst>
            </a:custGeom>
            <a:solidFill>
              <a:srgbClr val="701C7F"/>
            </a:solidFill>
            <a:ln>
              <a:noFill/>
            </a:ln>
          </p:spPr>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356" name="Shape 356"/>
        <p:cNvGrpSpPr/>
        <p:nvPr/>
      </p:nvGrpSpPr>
      <p:grpSpPr>
        <a:xfrm>
          <a:off x="0" y="0"/>
          <a:ext cx="0" cy="0"/>
          <a:chOff x="0" y="0"/>
          <a:chExt cx="0" cy="0"/>
        </a:xfrm>
      </p:grpSpPr>
      <p:sp>
        <p:nvSpPr>
          <p:cNvPr id="357" name="Google Shape;357;g395b2af9fb0_1_4"/>
          <p:cNvSpPr/>
          <p:nvPr/>
        </p:nvSpPr>
        <p:spPr>
          <a:xfrm>
            <a:off x="0" y="0"/>
            <a:ext cx="12161400" cy="73200"/>
          </a:xfrm>
          <a:prstGeom prst="rect">
            <a:avLst/>
          </a:prstGeom>
          <a:solidFill>
            <a:srgbClr val="3D8DA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95b2af9fb0_1_4"/>
          <p:cNvSpPr/>
          <p:nvPr/>
        </p:nvSpPr>
        <p:spPr>
          <a:xfrm>
            <a:off x="-1813562" y="-1329575"/>
            <a:ext cx="5486400" cy="5486400"/>
          </a:xfrm>
          <a:prstGeom prst="ellipse">
            <a:avLst/>
          </a:prstGeom>
          <a:solidFill>
            <a:srgbClr val="4E6E81">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g395b2af9fb0_1_4"/>
          <p:cNvSpPr/>
          <p:nvPr/>
        </p:nvSpPr>
        <p:spPr>
          <a:xfrm>
            <a:off x="8519157" y="3795875"/>
            <a:ext cx="5486400" cy="5486400"/>
          </a:xfrm>
          <a:prstGeom prst="ellipse">
            <a:avLst/>
          </a:prstGeom>
          <a:solidFill>
            <a:srgbClr val="1B3A4B">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descr="preencoded.png" id="360" name="Google Shape;360;g395b2af9fb0_1_4"/>
          <p:cNvPicPr preferRelativeResize="0"/>
          <p:nvPr/>
        </p:nvPicPr>
        <p:blipFill rotWithShape="1">
          <a:blip r:embed="rId3">
            <a:alphaModFix/>
          </a:blip>
          <a:srcRect b="0" l="0" r="0" t="0"/>
          <a:stretch/>
        </p:blipFill>
        <p:spPr>
          <a:xfrm>
            <a:off x="11247120" y="182880"/>
            <a:ext cx="594360" cy="594360"/>
          </a:xfrm>
          <a:prstGeom prst="rect">
            <a:avLst/>
          </a:prstGeom>
          <a:noFill/>
          <a:ln>
            <a:noFill/>
          </a:ln>
        </p:spPr>
      </p:pic>
      <p:sp>
        <p:nvSpPr>
          <p:cNvPr id="361" name="Google Shape;361;g395b2af9fb0_1_4"/>
          <p:cNvSpPr/>
          <p:nvPr/>
        </p:nvSpPr>
        <p:spPr>
          <a:xfrm>
            <a:off x="3794710" y="1185020"/>
            <a:ext cx="45720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9E9C"/>
              </a:buClr>
              <a:buSzPts val="1600"/>
              <a:buFont typeface="Calibri"/>
              <a:buNone/>
            </a:pPr>
            <a:r>
              <a:rPr b="0" i="0" lang="en-US" sz="2000" u="none" cap="none" strike="noStrike">
                <a:solidFill>
                  <a:schemeClr val="dk1"/>
                </a:solidFill>
                <a:latin typeface="Calibri"/>
                <a:ea typeface="Calibri"/>
                <a:cs typeface="Calibri"/>
                <a:sym typeface="Calibri"/>
              </a:rPr>
              <a:t>EVA </a:t>
            </a:r>
            <a:endParaRPr b="0" i="0" sz="2000" u="none" cap="none" strike="noStrike">
              <a:solidFill>
                <a:schemeClr val="dk1"/>
              </a:solidFill>
              <a:latin typeface="Calibri"/>
              <a:ea typeface="Calibri"/>
              <a:cs typeface="Calibri"/>
              <a:sym typeface="Calibri"/>
            </a:endParaRPr>
          </a:p>
        </p:txBody>
      </p:sp>
      <p:sp>
        <p:nvSpPr>
          <p:cNvPr id="362" name="Google Shape;362;g395b2af9fb0_1_4"/>
          <p:cNvSpPr/>
          <p:nvPr/>
        </p:nvSpPr>
        <p:spPr>
          <a:xfrm>
            <a:off x="2423110" y="2119700"/>
            <a:ext cx="7315200" cy="1097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FFFFFF"/>
              </a:buClr>
              <a:buSzPts val="5400"/>
              <a:buFont typeface="Calibri"/>
              <a:buNone/>
            </a:pPr>
            <a:r>
              <a:rPr b="1" i="0" lang="en-US" sz="5400" u="none" cap="none" strike="noStrike">
                <a:solidFill>
                  <a:schemeClr val="dk1"/>
                </a:solidFill>
                <a:latin typeface="Calibri"/>
                <a:ea typeface="Calibri"/>
                <a:cs typeface="Calibri"/>
                <a:sym typeface="Calibri"/>
              </a:rPr>
              <a:t>THANK YOU</a:t>
            </a:r>
            <a:endParaRPr b="1" i="0" sz="5400" u="none" cap="none" strike="noStrike">
              <a:solidFill>
                <a:schemeClr val="dk1"/>
              </a:solidFill>
              <a:latin typeface="Calibri"/>
              <a:ea typeface="Calibri"/>
              <a:cs typeface="Calibri"/>
              <a:sym typeface="Calibri"/>
            </a:endParaRPr>
          </a:p>
          <a:p>
            <a:pPr indent="0" lvl="0" marL="0" rtl="0" algn="ctr">
              <a:lnSpc>
                <a:spcPct val="115000"/>
              </a:lnSpc>
              <a:spcBef>
                <a:spcPts val="0"/>
              </a:spcBef>
              <a:spcAft>
                <a:spcPts val="0"/>
              </a:spcAft>
              <a:buClr>
                <a:schemeClr val="lt1"/>
              </a:buClr>
              <a:buSzPts val="5400"/>
              <a:buFont typeface="Calibri"/>
              <a:buNone/>
            </a:pPr>
            <a:r>
              <a:rPr b="1" lang="en-US" sz="5400">
                <a:solidFill>
                  <a:schemeClr val="dk1"/>
                </a:solidFill>
                <a:latin typeface="Calibri"/>
                <a:ea typeface="Calibri"/>
                <a:cs typeface="Calibri"/>
                <a:sym typeface="Calibri"/>
              </a:rPr>
              <a:t>Questions?</a:t>
            </a:r>
            <a:endParaRPr b="1" sz="5400">
              <a:solidFill>
                <a:schemeClr val="dk1"/>
              </a:solidFill>
              <a:latin typeface="Calibri"/>
              <a:ea typeface="Calibri"/>
              <a:cs typeface="Calibri"/>
              <a:sym typeface="Calibri"/>
            </a:endParaRPr>
          </a:p>
        </p:txBody>
      </p:sp>
      <p:sp>
        <p:nvSpPr>
          <p:cNvPr id="363" name="Google Shape;363;g395b2af9fb0_1_4"/>
          <p:cNvSpPr/>
          <p:nvPr/>
        </p:nvSpPr>
        <p:spPr>
          <a:xfrm>
            <a:off x="5196847" y="4214720"/>
            <a:ext cx="1828800" cy="36600"/>
          </a:xfrm>
          <a:prstGeom prst="rect">
            <a:avLst/>
          </a:prstGeom>
          <a:solidFill>
            <a:srgbClr val="3D8DA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395b2af9fb0_1_4"/>
          <p:cNvSpPr/>
          <p:nvPr/>
        </p:nvSpPr>
        <p:spPr>
          <a:xfrm>
            <a:off x="4267197" y="4344515"/>
            <a:ext cx="36576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CA3AF"/>
              </a:buClr>
              <a:buSzPts val="1300"/>
              <a:buFont typeface="Calibri"/>
              <a:buNone/>
            </a:pPr>
            <a:r>
              <a:rPr lang="en-US" sz="1300">
                <a:solidFill>
                  <a:schemeClr val="dk1"/>
                </a:solidFill>
                <a:latin typeface="Calibri"/>
                <a:ea typeface="Calibri"/>
                <a:cs typeface="Calibri"/>
                <a:sym typeface="Calibri"/>
              </a:rPr>
              <a:t>27</a:t>
            </a:r>
            <a:r>
              <a:rPr b="0" i="0" lang="en-US" sz="1300" u="none" cap="none" strike="noStrike">
                <a:solidFill>
                  <a:schemeClr val="dk1"/>
                </a:solidFill>
                <a:latin typeface="Calibri"/>
                <a:ea typeface="Calibri"/>
                <a:cs typeface="Calibri"/>
                <a:sym typeface="Calibri"/>
              </a:rPr>
              <a:t> </a:t>
            </a:r>
            <a:r>
              <a:rPr lang="en-US" sz="1300">
                <a:solidFill>
                  <a:schemeClr val="dk1"/>
                </a:solidFill>
                <a:latin typeface="Calibri"/>
                <a:ea typeface="Calibri"/>
                <a:cs typeface="Calibri"/>
                <a:sym typeface="Calibri"/>
              </a:rPr>
              <a:t>April</a:t>
            </a:r>
            <a:r>
              <a:rPr b="0" i="0" lang="en-US" sz="1300" u="none" cap="none" strike="noStrike">
                <a:solidFill>
                  <a:schemeClr val="dk1"/>
                </a:solidFill>
                <a:latin typeface="Calibri"/>
                <a:ea typeface="Calibri"/>
                <a:cs typeface="Calibri"/>
                <a:sym typeface="Calibri"/>
              </a:rPr>
              <a:t>, 2026</a:t>
            </a:r>
            <a:endParaRPr b="0" i="0" sz="1300" u="none" cap="none" strike="noStrike">
              <a:solidFill>
                <a:schemeClr val="dk1"/>
              </a:solidFill>
              <a:latin typeface="Calibri"/>
              <a:ea typeface="Calibri"/>
              <a:cs typeface="Calibri"/>
              <a:sym typeface="Calibri"/>
            </a:endParaRPr>
          </a:p>
        </p:txBody>
      </p:sp>
      <p:sp>
        <p:nvSpPr>
          <p:cNvPr id="365" name="Google Shape;365;g395b2af9fb0_1_4"/>
          <p:cNvSpPr/>
          <p:nvPr/>
        </p:nvSpPr>
        <p:spPr>
          <a:xfrm>
            <a:off x="1523997" y="4984595"/>
            <a:ext cx="91440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79E9C"/>
              </a:buClr>
              <a:buSzPts val="1100"/>
              <a:buFont typeface="Calibri"/>
              <a:buNone/>
            </a:pPr>
            <a:r>
              <a:rPr b="0" i="0" lang="en-US" sz="1100" u="none" cap="none" strike="noStrike">
                <a:solidFill>
                  <a:schemeClr val="dk1"/>
                </a:solidFill>
                <a:latin typeface="Calibri"/>
                <a:ea typeface="Calibri"/>
                <a:cs typeface="Calibri"/>
                <a:sym typeface="Calibri"/>
              </a:rPr>
              <a:t>Nikki Dong  |  Muhammad Shahpur Sheraz  |  Derek Fuls  |  Ishan Patel</a:t>
            </a:r>
            <a:endParaRPr b="0" i="0" sz="1100" u="none" cap="none" strike="noStrike">
              <a:solidFill>
                <a:schemeClr val="dk1"/>
              </a:solidFill>
              <a:latin typeface="Calibri"/>
              <a:ea typeface="Calibri"/>
              <a:cs typeface="Calibri"/>
              <a:sym typeface="Calibri"/>
            </a:endParaRPr>
          </a:p>
        </p:txBody>
      </p:sp>
      <p:sp>
        <p:nvSpPr>
          <p:cNvPr id="366" name="Google Shape;366;g395b2af9fb0_1_4"/>
          <p:cNvSpPr/>
          <p:nvPr/>
        </p:nvSpPr>
        <p:spPr>
          <a:xfrm>
            <a:off x="10789920" y="6446520"/>
            <a:ext cx="10974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CA3AF"/>
              </a:buClr>
              <a:buSzPts val="900"/>
              <a:buFont typeface="Calibri"/>
              <a:buNone/>
            </a:pPr>
            <a:r>
              <a:rPr b="0" i="0" lang="en-US" sz="900" u="none" cap="none" strike="noStrike">
                <a:solidFill>
                  <a:srgbClr val="9CA3AF"/>
                </a:solidFill>
                <a:latin typeface="Calibri"/>
                <a:ea typeface="Calibri"/>
                <a:cs typeface="Calibri"/>
                <a:sym typeface="Calibri"/>
              </a:rPr>
              <a:t>10 / 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2026-03-04T00:39:50Z</dcterms:created>
  <dc:creator>EVA Team</dc:creator>
</cp:coreProperties>
</file>